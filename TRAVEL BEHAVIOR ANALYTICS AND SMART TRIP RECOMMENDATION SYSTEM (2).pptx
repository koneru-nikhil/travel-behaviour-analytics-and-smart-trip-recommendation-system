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74" r:id="rId3"/>
    <p:sldId id="258" r:id="rId4"/>
    <p:sldId id="267" r:id="rId5"/>
    <p:sldId id="268" r:id="rId6"/>
    <p:sldId id="269" r:id="rId7"/>
    <p:sldId id="261" r:id="rId8"/>
    <p:sldId id="262" r:id="rId9"/>
    <p:sldId id="270" r:id="rId10"/>
    <p:sldId id="272" r:id="rId11"/>
    <p:sldId id="271" r:id="rId12"/>
    <p:sldId id="263" r:id="rId13"/>
    <p:sldId id="264" r:id="rId14"/>
    <p:sldId id="266" r:id="rId15"/>
    <p:sldId id="27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764EE1-0163-4A60-9156-696B8D10FA2E}"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0BA2368-5C68-4771-BC00-8207DED1D009}">
      <dgm:prSet/>
      <dgm:spPr/>
      <dgm:t>
        <a:bodyPr/>
        <a:lstStyle/>
        <a:p>
          <a:r>
            <a:rPr lang="en-US" b="1"/>
            <a:t>Azure Blob Storage</a:t>
          </a:r>
          <a:r>
            <a:rPr lang="en-US"/>
            <a:t> → Stores travel datasets</a:t>
          </a:r>
        </a:p>
      </dgm:t>
    </dgm:pt>
    <dgm:pt modelId="{011F2A86-325E-4156-B096-6E3016E50760}" type="parTrans" cxnId="{0D34BD4D-83E3-4617-9DBF-4094CDE9E348}">
      <dgm:prSet/>
      <dgm:spPr/>
      <dgm:t>
        <a:bodyPr/>
        <a:lstStyle/>
        <a:p>
          <a:endParaRPr lang="en-US"/>
        </a:p>
      </dgm:t>
    </dgm:pt>
    <dgm:pt modelId="{F293D1E5-94F3-4EEB-A2B6-8A6029B14FE2}" type="sibTrans" cxnId="{0D34BD4D-83E3-4617-9DBF-4094CDE9E348}">
      <dgm:prSet/>
      <dgm:spPr/>
      <dgm:t>
        <a:bodyPr/>
        <a:lstStyle/>
        <a:p>
          <a:endParaRPr lang="en-US"/>
        </a:p>
      </dgm:t>
    </dgm:pt>
    <dgm:pt modelId="{C7B299BE-6FC0-4926-9C5F-00BA0BFE6284}">
      <dgm:prSet/>
      <dgm:spPr/>
      <dgm:t>
        <a:bodyPr/>
        <a:lstStyle/>
        <a:p>
          <a:r>
            <a:rPr lang="en-US"/>
            <a:t>⬇</a:t>
          </a:r>
          <a:br>
            <a:rPr lang="en-US"/>
          </a:br>
          <a:r>
            <a:rPr lang="en-US" b="1"/>
            <a:t>Azure Data Factory</a:t>
          </a:r>
          <a:r>
            <a:rPr lang="en-US"/>
            <a:t> → Data ingestion pipeline</a:t>
          </a:r>
        </a:p>
      </dgm:t>
    </dgm:pt>
    <dgm:pt modelId="{79517F11-6B43-4AD3-8F04-F0844F6378CD}" type="parTrans" cxnId="{8510349A-8156-426A-80BE-EFA0A0B18904}">
      <dgm:prSet/>
      <dgm:spPr/>
      <dgm:t>
        <a:bodyPr/>
        <a:lstStyle/>
        <a:p>
          <a:endParaRPr lang="en-US"/>
        </a:p>
      </dgm:t>
    </dgm:pt>
    <dgm:pt modelId="{35583C6B-379B-4866-9179-659BAB9FD4D2}" type="sibTrans" cxnId="{8510349A-8156-426A-80BE-EFA0A0B18904}">
      <dgm:prSet/>
      <dgm:spPr/>
      <dgm:t>
        <a:bodyPr/>
        <a:lstStyle/>
        <a:p>
          <a:endParaRPr lang="en-US"/>
        </a:p>
      </dgm:t>
    </dgm:pt>
    <dgm:pt modelId="{C72FA663-014F-4C33-A234-674C9DEC46B8}">
      <dgm:prSet/>
      <dgm:spPr/>
      <dgm:t>
        <a:bodyPr/>
        <a:lstStyle/>
        <a:p>
          <a:r>
            <a:rPr lang="en-US" dirty="0"/>
            <a:t>⬇</a:t>
          </a:r>
          <a:br>
            <a:rPr lang="en-US" dirty="0"/>
          </a:br>
          <a:r>
            <a:rPr lang="en-US" b="1" dirty="0"/>
            <a:t>Azure Databricks</a:t>
          </a:r>
          <a:r>
            <a:rPr lang="en-US" dirty="0"/>
            <a:t>→ Data processing &amp; analytics</a:t>
          </a:r>
        </a:p>
      </dgm:t>
    </dgm:pt>
    <dgm:pt modelId="{686191DB-A2A4-4E4F-B6D7-8C976C9B9B3D}" type="parTrans" cxnId="{9AD3D889-A516-4F9B-8915-E954B5101590}">
      <dgm:prSet/>
      <dgm:spPr/>
      <dgm:t>
        <a:bodyPr/>
        <a:lstStyle/>
        <a:p>
          <a:endParaRPr lang="en-US"/>
        </a:p>
      </dgm:t>
    </dgm:pt>
    <dgm:pt modelId="{B9996AC6-7734-4D89-A4B0-6D70EFC4717A}" type="sibTrans" cxnId="{9AD3D889-A516-4F9B-8915-E954B5101590}">
      <dgm:prSet/>
      <dgm:spPr/>
      <dgm:t>
        <a:bodyPr/>
        <a:lstStyle/>
        <a:p>
          <a:endParaRPr lang="en-US"/>
        </a:p>
      </dgm:t>
    </dgm:pt>
    <dgm:pt modelId="{54753B5C-8AFE-4B46-BB28-66AFD417BACA}">
      <dgm:prSet/>
      <dgm:spPr/>
      <dgm:t>
        <a:bodyPr/>
        <a:lstStyle/>
        <a:p>
          <a:r>
            <a:rPr lang="en-US"/>
            <a:t>⬇</a:t>
          </a:r>
          <a:br>
            <a:rPr lang="en-US"/>
          </a:br>
          <a:r>
            <a:rPr lang="en-US" b="1"/>
            <a:t>Azure Synapse Analytics</a:t>
          </a:r>
          <a:r>
            <a:rPr lang="en-US"/>
            <a:t> → Query &amp; analysis</a:t>
          </a:r>
        </a:p>
      </dgm:t>
    </dgm:pt>
    <dgm:pt modelId="{4157CF35-B5D5-4F72-A8A8-D059137A159C}" type="parTrans" cxnId="{72CFE131-5345-45AB-BE40-865136465625}">
      <dgm:prSet/>
      <dgm:spPr/>
      <dgm:t>
        <a:bodyPr/>
        <a:lstStyle/>
        <a:p>
          <a:endParaRPr lang="en-US"/>
        </a:p>
      </dgm:t>
    </dgm:pt>
    <dgm:pt modelId="{CF283677-9F51-408C-B33C-0F742E7B6F52}" type="sibTrans" cxnId="{72CFE131-5345-45AB-BE40-865136465625}">
      <dgm:prSet/>
      <dgm:spPr/>
      <dgm:t>
        <a:bodyPr/>
        <a:lstStyle/>
        <a:p>
          <a:endParaRPr lang="en-US"/>
        </a:p>
      </dgm:t>
    </dgm:pt>
    <dgm:pt modelId="{736959A3-7C5A-46CD-81C7-47CF61CE5DD5}">
      <dgm:prSet/>
      <dgm:spPr/>
      <dgm:t>
        <a:bodyPr/>
        <a:lstStyle/>
        <a:p>
          <a:r>
            <a:rPr lang="en-US" dirty="0"/>
            <a:t>⬇</a:t>
          </a:r>
          <a:br>
            <a:rPr lang="en-US" dirty="0"/>
          </a:br>
          <a:r>
            <a:rPr lang="en-US" b="1" dirty="0"/>
            <a:t>Azure Machine Learning(Python ML)</a:t>
          </a:r>
          <a:endParaRPr lang="en-US" dirty="0"/>
        </a:p>
      </dgm:t>
    </dgm:pt>
    <dgm:pt modelId="{14386898-F903-4844-8D66-8CBAE5AD732D}" type="parTrans" cxnId="{3EFA0013-7EA4-4EEA-9064-2A5DBF950B83}">
      <dgm:prSet/>
      <dgm:spPr/>
      <dgm:t>
        <a:bodyPr/>
        <a:lstStyle/>
        <a:p>
          <a:endParaRPr lang="en-US"/>
        </a:p>
      </dgm:t>
    </dgm:pt>
    <dgm:pt modelId="{ECA8C312-520C-458A-BC50-9DF383FD3313}" type="sibTrans" cxnId="{3EFA0013-7EA4-4EEA-9064-2A5DBF950B83}">
      <dgm:prSet/>
      <dgm:spPr/>
      <dgm:t>
        <a:bodyPr/>
        <a:lstStyle/>
        <a:p>
          <a:endParaRPr lang="en-US"/>
        </a:p>
      </dgm:t>
    </dgm:pt>
    <dgm:pt modelId="{3CED88F6-39FE-470E-BEBE-6DF53EAB44E7}">
      <dgm:prSet/>
      <dgm:spPr/>
      <dgm:t>
        <a:bodyPr/>
        <a:lstStyle/>
        <a:p>
          <a:r>
            <a:rPr lang="en-US"/>
            <a:t>⬇</a:t>
          </a:r>
          <a:br>
            <a:rPr lang="en-US"/>
          </a:br>
          <a:r>
            <a:rPr lang="en-US" b="1"/>
            <a:t>Power BI</a:t>
          </a:r>
          <a:r>
            <a:rPr lang="en-US"/>
            <a:t> → Dashboard</a:t>
          </a:r>
        </a:p>
      </dgm:t>
    </dgm:pt>
    <dgm:pt modelId="{3FB24C65-2C30-4D71-8CDA-FB02F0723CFF}" type="parTrans" cxnId="{64BC7050-2DEB-4128-917E-66BA96E2BCA5}">
      <dgm:prSet/>
      <dgm:spPr/>
      <dgm:t>
        <a:bodyPr/>
        <a:lstStyle/>
        <a:p>
          <a:endParaRPr lang="en-US"/>
        </a:p>
      </dgm:t>
    </dgm:pt>
    <dgm:pt modelId="{C9948C85-C6AA-43A7-90BF-1244D9B0EF0E}" type="sibTrans" cxnId="{64BC7050-2DEB-4128-917E-66BA96E2BCA5}">
      <dgm:prSet/>
      <dgm:spPr/>
      <dgm:t>
        <a:bodyPr/>
        <a:lstStyle/>
        <a:p>
          <a:endParaRPr lang="en-US"/>
        </a:p>
      </dgm:t>
    </dgm:pt>
    <dgm:pt modelId="{DC3F68EE-A5B4-44F9-995E-EADC0CBE2FB7}" type="pres">
      <dgm:prSet presAssocID="{3D764EE1-0163-4A60-9156-696B8D10FA2E}" presName="root" presStyleCnt="0">
        <dgm:presLayoutVars>
          <dgm:dir/>
          <dgm:resizeHandles val="exact"/>
        </dgm:presLayoutVars>
      </dgm:prSet>
      <dgm:spPr/>
    </dgm:pt>
    <dgm:pt modelId="{878B8943-E21C-46A8-8A65-2E1EA3932ED8}" type="pres">
      <dgm:prSet presAssocID="{3D764EE1-0163-4A60-9156-696B8D10FA2E}" presName="container" presStyleCnt="0">
        <dgm:presLayoutVars>
          <dgm:dir/>
          <dgm:resizeHandles val="exact"/>
        </dgm:presLayoutVars>
      </dgm:prSet>
      <dgm:spPr/>
    </dgm:pt>
    <dgm:pt modelId="{B8B7B459-09D7-46EC-A476-FB0FB86B1A21}" type="pres">
      <dgm:prSet presAssocID="{B0BA2368-5C68-4771-BC00-8207DED1D009}" presName="compNode" presStyleCnt="0"/>
      <dgm:spPr/>
    </dgm:pt>
    <dgm:pt modelId="{3909E152-08D6-4C3A-8427-86CAD6F8A1F6}" type="pres">
      <dgm:prSet presAssocID="{B0BA2368-5C68-4771-BC00-8207DED1D009}" presName="iconBgRect" presStyleLbl="bgShp" presStyleIdx="0" presStyleCnt="6"/>
      <dgm:spPr/>
    </dgm:pt>
    <dgm:pt modelId="{2D3FA834-2395-4B9E-A030-1DE3C79BFA73}" type="pres">
      <dgm:prSet presAssocID="{B0BA2368-5C68-4771-BC00-8207DED1D009}"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atabase"/>
        </a:ext>
      </dgm:extLst>
    </dgm:pt>
    <dgm:pt modelId="{8BECF9A9-657F-48C5-9D8C-B70DF169B73A}" type="pres">
      <dgm:prSet presAssocID="{B0BA2368-5C68-4771-BC00-8207DED1D009}" presName="spaceRect" presStyleCnt="0"/>
      <dgm:spPr/>
    </dgm:pt>
    <dgm:pt modelId="{88E540E8-3DA5-4C45-BD42-F646829B97AF}" type="pres">
      <dgm:prSet presAssocID="{B0BA2368-5C68-4771-BC00-8207DED1D009}" presName="textRect" presStyleLbl="revTx" presStyleIdx="0" presStyleCnt="6">
        <dgm:presLayoutVars>
          <dgm:chMax val="1"/>
          <dgm:chPref val="1"/>
        </dgm:presLayoutVars>
      </dgm:prSet>
      <dgm:spPr/>
    </dgm:pt>
    <dgm:pt modelId="{92951F99-8EA9-4751-975A-6132C9DE5184}" type="pres">
      <dgm:prSet presAssocID="{F293D1E5-94F3-4EEB-A2B6-8A6029B14FE2}" presName="sibTrans" presStyleLbl="sibTrans2D1" presStyleIdx="0" presStyleCnt="0"/>
      <dgm:spPr/>
    </dgm:pt>
    <dgm:pt modelId="{6167D7A3-8B81-443D-82C4-CC90898A4CBF}" type="pres">
      <dgm:prSet presAssocID="{C7B299BE-6FC0-4926-9C5F-00BA0BFE6284}" presName="compNode" presStyleCnt="0"/>
      <dgm:spPr/>
    </dgm:pt>
    <dgm:pt modelId="{71B1EF03-125F-4274-A14C-65FB4DE4608F}" type="pres">
      <dgm:prSet presAssocID="{C7B299BE-6FC0-4926-9C5F-00BA0BFE6284}" presName="iconBgRect" presStyleLbl="bgShp" presStyleIdx="1" presStyleCnt="6"/>
      <dgm:spPr/>
    </dgm:pt>
    <dgm:pt modelId="{256D4EAC-7551-4E43-9211-EF839112B446}" type="pres">
      <dgm:prSet presAssocID="{C7B299BE-6FC0-4926-9C5F-00BA0BFE6284}"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1FAC2BCF-2F8A-47A9-9EE1-2AEC8F856AE4}" type="pres">
      <dgm:prSet presAssocID="{C7B299BE-6FC0-4926-9C5F-00BA0BFE6284}" presName="spaceRect" presStyleCnt="0"/>
      <dgm:spPr/>
    </dgm:pt>
    <dgm:pt modelId="{810DFC20-3F55-442D-B957-1793355B03A2}" type="pres">
      <dgm:prSet presAssocID="{C7B299BE-6FC0-4926-9C5F-00BA0BFE6284}" presName="textRect" presStyleLbl="revTx" presStyleIdx="1" presStyleCnt="6">
        <dgm:presLayoutVars>
          <dgm:chMax val="1"/>
          <dgm:chPref val="1"/>
        </dgm:presLayoutVars>
      </dgm:prSet>
      <dgm:spPr/>
    </dgm:pt>
    <dgm:pt modelId="{FE4FF09F-1E7B-43FF-B78B-835BA6756910}" type="pres">
      <dgm:prSet presAssocID="{35583C6B-379B-4866-9179-659BAB9FD4D2}" presName="sibTrans" presStyleLbl="sibTrans2D1" presStyleIdx="0" presStyleCnt="0"/>
      <dgm:spPr/>
    </dgm:pt>
    <dgm:pt modelId="{BC54FF69-6061-4C24-9DF6-7EF051181267}" type="pres">
      <dgm:prSet presAssocID="{C72FA663-014F-4C33-A234-674C9DEC46B8}" presName="compNode" presStyleCnt="0"/>
      <dgm:spPr/>
    </dgm:pt>
    <dgm:pt modelId="{0BDC6FFB-E5AA-4DB3-A83B-129E27040006}" type="pres">
      <dgm:prSet presAssocID="{C72FA663-014F-4C33-A234-674C9DEC46B8}" presName="iconBgRect" presStyleLbl="bgShp" presStyleIdx="2" presStyleCnt="6"/>
      <dgm:spPr/>
    </dgm:pt>
    <dgm:pt modelId="{D181B264-F332-4925-BB12-FBB8CB7F6663}" type="pres">
      <dgm:prSet presAssocID="{C72FA663-014F-4C33-A234-674C9DEC46B8}"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oud"/>
        </a:ext>
      </dgm:extLst>
    </dgm:pt>
    <dgm:pt modelId="{AF85B768-3D9C-45EF-97C2-8EC773EAA930}" type="pres">
      <dgm:prSet presAssocID="{C72FA663-014F-4C33-A234-674C9DEC46B8}" presName="spaceRect" presStyleCnt="0"/>
      <dgm:spPr/>
    </dgm:pt>
    <dgm:pt modelId="{DE93CFF9-A9E4-4701-AC14-15E46132A4F5}" type="pres">
      <dgm:prSet presAssocID="{C72FA663-014F-4C33-A234-674C9DEC46B8}" presName="textRect" presStyleLbl="revTx" presStyleIdx="2" presStyleCnt="6">
        <dgm:presLayoutVars>
          <dgm:chMax val="1"/>
          <dgm:chPref val="1"/>
        </dgm:presLayoutVars>
      </dgm:prSet>
      <dgm:spPr/>
    </dgm:pt>
    <dgm:pt modelId="{B032712A-604F-4717-BB79-44F85B921F95}" type="pres">
      <dgm:prSet presAssocID="{B9996AC6-7734-4D89-A4B0-6D70EFC4717A}" presName="sibTrans" presStyleLbl="sibTrans2D1" presStyleIdx="0" presStyleCnt="0"/>
      <dgm:spPr/>
    </dgm:pt>
    <dgm:pt modelId="{29D7ECCE-1CA0-47FC-827B-726B74DEEEEE}" type="pres">
      <dgm:prSet presAssocID="{54753B5C-8AFE-4B46-BB28-66AFD417BACA}" presName="compNode" presStyleCnt="0"/>
      <dgm:spPr/>
    </dgm:pt>
    <dgm:pt modelId="{5F511C14-F153-424D-A308-9E84A24A764D}" type="pres">
      <dgm:prSet presAssocID="{54753B5C-8AFE-4B46-BB28-66AFD417BACA}" presName="iconBgRect" presStyleLbl="bgShp" presStyleIdx="3" presStyleCnt="6"/>
      <dgm:spPr/>
    </dgm:pt>
    <dgm:pt modelId="{22B6F457-EB95-41DD-851E-744CF145CD30}" type="pres">
      <dgm:prSet presAssocID="{54753B5C-8AFE-4B46-BB28-66AFD417BACA}"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C59ADD66-7E8A-4F5E-B648-DA226B396EC2}" type="pres">
      <dgm:prSet presAssocID="{54753B5C-8AFE-4B46-BB28-66AFD417BACA}" presName="spaceRect" presStyleCnt="0"/>
      <dgm:spPr/>
    </dgm:pt>
    <dgm:pt modelId="{1AB5BA2B-27C4-4989-873E-891258019849}" type="pres">
      <dgm:prSet presAssocID="{54753B5C-8AFE-4B46-BB28-66AFD417BACA}" presName="textRect" presStyleLbl="revTx" presStyleIdx="3" presStyleCnt="6">
        <dgm:presLayoutVars>
          <dgm:chMax val="1"/>
          <dgm:chPref val="1"/>
        </dgm:presLayoutVars>
      </dgm:prSet>
      <dgm:spPr/>
    </dgm:pt>
    <dgm:pt modelId="{02C20BB3-3151-4A2B-9139-E6B456412F15}" type="pres">
      <dgm:prSet presAssocID="{CF283677-9F51-408C-B33C-0F742E7B6F52}" presName="sibTrans" presStyleLbl="sibTrans2D1" presStyleIdx="0" presStyleCnt="0"/>
      <dgm:spPr/>
    </dgm:pt>
    <dgm:pt modelId="{07A7E9BD-7EF0-4DAB-8FFD-69815B88F926}" type="pres">
      <dgm:prSet presAssocID="{736959A3-7C5A-46CD-81C7-47CF61CE5DD5}" presName="compNode" presStyleCnt="0"/>
      <dgm:spPr/>
    </dgm:pt>
    <dgm:pt modelId="{A4A3C31A-0476-4AC1-9DC3-43BA909A9AA9}" type="pres">
      <dgm:prSet presAssocID="{736959A3-7C5A-46CD-81C7-47CF61CE5DD5}" presName="iconBgRect" presStyleLbl="bgShp" presStyleIdx="4" presStyleCnt="6"/>
      <dgm:spPr/>
    </dgm:pt>
    <dgm:pt modelId="{58413535-E0D9-4646-ADFD-E2F69245FA6C}" type="pres">
      <dgm:prSet presAssocID="{736959A3-7C5A-46CD-81C7-47CF61CE5DD5}"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Gears"/>
        </a:ext>
      </dgm:extLst>
    </dgm:pt>
    <dgm:pt modelId="{AF499B7E-3C53-4480-9526-3D58A541CBD2}" type="pres">
      <dgm:prSet presAssocID="{736959A3-7C5A-46CD-81C7-47CF61CE5DD5}" presName="spaceRect" presStyleCnt="0"/>
      <dgm:spPr/>
    </dgm:pt>
    <dgm:pt modelId="{ECC94B6E-4677-4683-9DB7-82883726C92E}" type="pres">
      <dgm:prSet presAssocID="{736959A3-7C5A-46CD-81C7-47CF61CE5DD5}" presName="textRect" presStyleLbl="revTx" presStyleIdx="4" presStyleCnt="6">
        <dgm:presLayoutVars>
          <dgm:chMax val="1"/>
          <dgm:chPref val="1"/>
        </dgm:presLayoutVars>
      </dgm:prSet>
      <dgm:spPr/>
    </dgm:pt>
    <dgm:pt modelId="{D63F6263-436E-4748-AE62-8806631CD2A9}" type="pres">
      <dgm:prSet presAssocID="{ECA8C312-520C-458A-BC50-9DF383FD3313}" presName="sibTrans" presStyleLbl="sibTrans2D1" presStyleIdx="0" presStyleCnt="0"/>
      <dgm:spPr/>
    </dgm:pt>
    <dgm:pt modelId="{C2EF7CB1-7860-41A2-BEA0-B015EFAA9849}" type="pres">
      <dgm:prSet presAssocID="{3CED88F6-39FE-470E-BEBE-6DF53EAB44E7}" presName="compNode" presStyleCnt="0"/>
      <dgm:spPr/>
    </dgm:pt>
    <dgm:pt modelId="{82A905CF-72F5-4FC1-A748-B62F014171E1}" type="pres">
      <dgm:prSet presAssocID="{3CED88F6-39FE-470E-BEBE-6DF53EAB44E7}" presName="iconBgRect" presStyleLbl="bgShp" presStyleIdx="5" presStyleCnt="6"/>
      <dgm:spPr/>
    </dgm:pt>
    <dgm:pt modelId="{484812C0-8F0A-470F-AEE3-B43B99966F7C}" type="pres">
      <dgm:prSet presAssocID="{3CED88F6-39FE-470E-BEBE-6DF53EAB44E7}"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9F01197F-05C4-4177-AADC-3AAEF2A5851E}" type="pres">
      <dgm:prSet presAssocID="{3CED88F6-39FE-470E-BEBE-6DF53EAB44E7}" presName="spaceRect" presStyleCnt="0"/>
      <dgm:spPr/>
    </dgm:pt>
    <dgm:pt modelId="{AF4483D4-AE67-403A-9FAF-4E4A590BA95D}" type="pres">
      <dgm:prSet presAssocID="{3CED88F6-39FE-470E-BEBE-6DF53EAB44E7}" presName="textRect" presStyleLbl="revTx" presStyleIdx="5" presStyleCnt="6">
        <dgm:presLayoutVars>
          <dgm:chMax val="1"/>
          <dgm:chPref val="1"/>
        </dgm:presLayoutVars>
      </dgm:prSet>
      <dgm:spPr/>
    </dgm:pt>
  </dgm:ptLst>
  <dgm:cxnLst>
    <dgm:cxn modelId="{FB4B7510-CE94-42AE-A996-AE17161A96D1}" type="presOf" srcId="{CF283677-9F51-408C-B33C-0F742E7B6F52}" destId="{02C20BB3-3151-4A2B-9139-E6B456412F15}" srcOrd="0" destOrd="0" presId="urn:microsoft.com/office/officeart/2018/2/layout/IconCircleList"/>
    <dgm:cxn modelId="{3EFA0013-7EA4-4EEA-9064-2A5DBF950B83}" srcId="{3D764EE1-0163-4A60-9156-696B8D10FA2E}" destId="{736959A3-7C5A-46CD-81C7-47CF61CE5DD5}" srcOrd="4" destOrd="0" parTransId="{14386898-F903-4844-8D66-8CBAE5AD732D}" sibTransId="{ECA8C312-520C-458A-BC50-9DF383FD3313}"/>
    <dgm:cxn modelId="{456DA326-28D7-46C2-9284-732F04D99DCC}" type="presOf" srcId="{736959A3-7C5A-46CD-81C7-47CF61CE5DD5}" destId="{ECC94B6E-4677-4683-9DB7-82883726C92E}" srcOrd="0" destOrd="0" presId="urn:microsoft.com/office/officeart/2018/2/layout/IconCircleList"/>
    <dgm:cxn modelId="{AFF6F62E-0D17-47F9-90CA-B3A3165322BF}" type="presOf" srcId="{3CED88F6-39FE-470E-BEBE-6DF53EAB44E7}" destId="{AF4483D4-AE67-403A-9FAF-4E4A590BA95D}" srcOrd="0" destOrd="0" presId="urn:microsoft.com/office/officeart/2018/2/layout/IconCircleList"/>
    <dgm:cxn modelId="{72CFE131-5345-45AB-BE40-865136465625}" srcId="{3D764EE1-0163-4A60-9156-696B8D10FA2E}" destId="{54753B5C-8AFE-4B46-BB28-66AFD417BACA}" srcOrd="3" destOrd="0" parTransId="{4157CF35-B5D5-4F72-A8A8-D059137A159C}" sibTransId="{CF283677-9F51-408C-B33C-0F742E7B6F52}"/>
    <dgm:cxn modelId="{23B1C739-7A18-4858-A664-DBA72A2D23CD}" type="presOf" srcId="{B0BA2368-5C68-4771-BC00-8207DED1D009}" destId="{88E540E8-3DA5-4C45-BD42-F646829B97AF}" srcOrd="0" destOrd="0" presId="urn:microsoft.com/office/officeart/2018/2/layout/IconCircleList"/>
    <dgm:cxn modelId="{1FA35B5E-2AF8-412D-B962-E31089E8A03A}" type="presOf" srcId="{54753B5C-8AFE-4B46-BB28-66AFD417BACA}" destId="{1AB5BA2B-27C4-4989-873E-891258019849}" srcOrd="0" destOrd="0" presId="urn:microsoft.com/office/officeart/2018/2/layout/IconCircleList"/>
    <dgm:cxn modelId="{8BC36D43-199D-43F0-A28E-381182C7A979}" type="presOf" srcId="{C72FA663-014F-4C33-A234-674C9DEC46B8}" destId="{DE93CFF9-A9E4-4701-AC14-15E46132A4F5}" srcOrd="0" destOrd="0" presId="urn:microsoft.com/office/officeart/2018/2/layout/IconCircleList"/>
    <dgm:cxn modelId="{A8FA7465-1230-4C0E-BF47-BE54C8063F89}" type="presOf" srcId="{35583C6B-379B-4866-9179-659BAB9FD4D2}" destId="{FE4FF09F-1E7B-43FF-B78B-835BA6756910}" srcOrd="0" destOrd="0" presId="urn:microsoft.com/office/officeart/2018/2/layout/IconCircleList"/>
    <dgm:cxn modelId="{0D34BD4D-83E3-4617-9DBF-4094CDE9E348}" srcId="{3D764EE1-0163-4A60-9156-696B8D10FA2E}" destId="{B0BA2368-5C68-4771-BC00-8207DED1D009}" srcOrd="0" destOrd="0" parTransId="{011F2A86-325E-4156-B096-6E3016E50760}" sibTransId="{F293D1E5-94F3-4EEB-A2B6-8A6029B14FE2}"/>
    <dgm:cxn modelId="{64BC7050-2DEB-4128-917E-66BA96E2BCA5}" srcId="{3D764EE1-0163-4A60-9156-696B8D10FA2E}" destId="{3CED88F6-39FE-470E-BEBE-6DF53EAB44E7}" srcOrd="5" destOrd="0" parTransId="{3FB24C65-2C30-4D71-8CDA-FB02F0723CFF}" sibTransId="{C9948C85-C6AA-43A7-90BF-1244D9B0EF0E}"/>
    <dgm:cxn modelId="{C8697B75-ABAC-4797-A625-AC95F17DE234}" type="presOf" srcId="{F293D1E5-94F3-4EEB-A2B6-8A6029B14FE2}" destId="{92951F99-8EA9-4751-975A-6132C9DE5184}" srcOrd="0" destOrd="0" presId="urn:microsoft.com/office/officeart/2018/2/layout/IconCircleList"/>
    <dgm:cxn modelId="{26C62D57-F330-4F3C-B60C-1502492353C5}" type="presOf" srcId="{B9996AC6-7734-4D89-A4B0-6D70EFC4717A}" destId="{B032712A-604F-4717-BB79-44F85B921F95}" srcOrd="0" destOrd="0" presId="urn:microsoft.com/office/officeart/2018/2/layout/IconCircleList"/>
    <dgm:cxn modelId="{23D89E77-812C-4F80-8877-59B768C9E7D1}" type="presOf" srcId="{ECA8C312-520C-458A-BC50-9DF383FD3313}" destId="{D63F6263-436E-4748-AE62-8806631CD2A9}" srcOrd="0" destOrd="0" presId="urn:microsoft.com/office/officeart/2018/2/layout/IconCircleList"/>
    <dgm:cxn modelId="{9AD3D889-A516-4F9B-8915-E954B5101590}" srcId="{3D764EE1-0163-4A60-9156-696B8D10FA2E}" destId="{C72FA663-014F-4C33-A234-674C9DEC46B8}" srcOrd="2" destOrd="0" parTransId="{686191DB-A2A4-4E4F-B6D7-8C976C9B9B3D}" sibTransId="{B9996AC6-7734-4D89-A4B0-6D70EFC4717A}"/>
    <dgm:cxn modelId="{8510349A-8156-426A-80BE-EFA0A0B18904}" srcId="{3D764EE1-0163-4A60-9156-696B8D10FA2E}" destId="{C7B299BE-6FC0-4926-9C5F-00BA0BFE6284}" srcOrd="1" destOrd="0" parTransId="{79517F11-6B43-4AD3-8F04-F0844F6378CD}" sibTransId="{35583C6B-379B-4866-9179-659BAB9FD4D2}"/>
    <dgm:cxn modelId="{49F6219D-4B60-4EA3-A76D-A7C4A49E4220}" type="presOf" srcId="{3D764EE1-0163-4A60-9156-696B8D10FA2E}" destId="{DC3F68EE-A5B4-44F9-995E-EADC0CBE2FB7}" srcOrd="0" destOrd="0" presId="urn:microsoft.com/office/officeart/2018/2/layout/IconCircleList"/>
    <dgm:cxn modelId="{BE37A2C4-A065-4066-BC15-FB62D77F985A}" type="presOf" srcId="{C7B299BE-6FC0-4926-9C5F-00BA0BFE6284}" destId="{810DFC20-3F55-442D-B957-1793355B03A2}" srcOrd="0" destOrd="0" presId="urn:microsoft.com/office/officeart/2018/2/layout/IconCircleList"/>
    <dgm:cxn modelId="{82A22835-41E2-47AB-BA93-46D0A7675615}" type="presParOf" srcId="{DC3F68EE-A5B4-44F9-995E-EADC0CBE2FB7}" destId="{878B8943-E21C-46A8-8A65-2E1EA3932ED8}" srcOrd="0" destOrd="0" presId="urn:microsoft.com/office/officeart/2018/2/layout/IconCircleList"/>
    <dgm:cxn modelId="{37A64907-F2FD-411B-BFED-AE54E26FE707}" type="presParOf" srcId="{878B8943-E21C-46A8-8A65-2E1EA3932ED8}" destId="{B8B7B459-09D7-46EC-A476-FB0FB86B1A21}" srcOrd="0" destOrd="0" presId="urn:microsoft.com/office/officeart/2018/2/layout/IconCircleList"/>
    <dgm:cxn modelId="{D1A40467-8E28-4717-A2FD-53E7CF200B20}" type="presParOf" srcId="{B8B7B459-09D7-46EC-A476-FB0FB86B1A21}" destId="{3909E152-08D6-4C3A-8427-86CAD6F8A1F6}" srcOrd="0" destOrd="0" presId="urn:microsoft.com/office/officeart/2018/2/layout/IconCircleList"/>
    <dgm:cxn modelId="{3D21C0A5-1596-43BD-A9EF-FAE48AB60336}" type="presParOf" srcId="{B8B7B459-09D7-46EC-A476-FB0FB86B1A21}" destId="{2D3FA834-2395-4B9E-A030-1DE3C79BFA73}" srcOrd="1" destOrd="0" presId="urn:microsoft.com/office/officeart/2018/2/layout/IconCircleList"/>
    <dgm:cxn modelId="{4B0C52B3-5304-4E30-AFD8-5DB5E5047A92}" type="presParOf" srcId="{B8B7B459-09D7-46EC-A476-FB0FB86B1A21}" destId="{8BECF9A9-657F-48C5-9D8C-B70DF169B73A}" srcOrd="2" destOrd="0" presId="urn:microsoft.com/office/officeart/2018/2/layout/IconCircleList"/>
    <dgm:cxn modelId="{CD6D3871-FFA6-4E82-99E5-F498BB914147}" type="presParOf" srcId="{B8B7B459-09D7-46EC-A476-FB0FB86B1A21}" destId="{88E540E8-3DA5-4C45-BD42-F646829B97AF}" srcOrd="3" destOrd="0" presId="urn:microsoft.com/office/officeart/2018/2/layout/IconCircleList"/>
    <dgm:cxn modelId="{67220AD1-06B6-44B2-ADD0-53CCFE99012A}" type="presParOf" srcId="{878B8943-E21C-46A8-8A65-2E1EA3932ED8}" destId="{92951F99-8EA9-4751-975A-6132C9DE5184}" srcOrd="1" destOrd="0" presId="urn:microsoft.com/office/officeart/2018/2/layout/IconCircleList"/>
    <dgm:cxn modelId="{DFFBCD9B-6B28-4665-A03B-B559316C4014}" type="presParOf" srcId="{878B8943-E21C-46A8-8A65-2E1EA3932ED8}" destId="{6167D7A3-8B81-443D-82C4-CC90898A4CBF}" srcOrd="2" destOrd="0" presId="urn:microsoft.com/office/officeart/2018/2/layout/IconCircleList"/>
    <dgm:cxn modelId="{FBC827D7-5316-493D-AC62-51CF9B4F11B1}" type="presParOf" srcId="{6167D7A3-8B81-443D-82C4-CC90898A4CBF}" destId="{71B1EF03-125F-4274-A14C-65FB4DE4608F}" srcOrd="0" destOrd="0" presId="urn:microsoft.com/office/officeart/2018/2/layout/IconCircleList"/>
    <dgm:cxn modelId="{8B35A177-C9FC-476C-BA1F-51027562D1F9}" type="presParOf" srcId="{6167D7A3-8B81-443D-82C4-CC90898A4CBF}" destId="{256D4EAC-7551-4E43-9211-EF839112B446}" srcOrd="1" destOrd="0" presId="urn:microsoft.com/office/officeart/2018/2/layout/IconCircleList"/>
    <dgm:cxn modelId="{177F41E1-4316-4986-9991-C05CAE538BD0}" type="presParOf" srcId="{6167D7A3-8B81-443D-82C4-CC90898A4CBF}" destId="{1FAC2BCF-2F8A-47A9-9EE1-2AEC8F856AE4}" srcOrd="2" destOrd="0" presId="urn:microsoft.com/office/officeart/2018/2/layout/IconCircleList"/>
    <dgm:cxn modelId="{D97446D6-4966-4C5D-B351-EF3692F5D144}" type="presParOf" srcId="{6167D7A3-8B81-443D-82C4-CC90898A4CBF}" destId="{810DFC20-3F55-442D-B957-1793355B03A2}" srcOrd="3" destOrd="0" presId="urn:microsoft.com/office/officeart/2018/2/layout/IconCircleList"/>
    <dgm:cxn modelId="{02FCCB35-E224-4BA4-A010-A4F980D64E7A}" type="presParOf" srcId="{878B8943-E21C-46A8-8A65-2E1EA3932ED8}" destId="{FE4FF09F-1E7B-43FF-B78B-835BA6756910}" srcOrd="3" destOrd="0" presId="urn:microsoft.com/office/officeart/2018/2/layout/IconCircleList"/>
    <dgm:cxn modelId="{5CEB1B5B-FAAB-48AB-9B09-F50C3A93411F}" type="presParOf" srcId="{878B8943-E21C-46A8-8A65-2E1EA3932ED8}" destId="{BC54FF69-6061-4C24-9DF6-7EF051181267}" srcOrd="4" destOrd="0" presId="urn:microsoft.com/office/officeart/2018/2/layout/IconCircleList"/>
    <dgm:cxn modelId="{678C84AE-CFE1-455F-95D0-E8F86B5E3A50}" type="presParOf" srcId="{BC54FF69-6061-4C24-9DF6-7EF051181267}" destId="{0BDC6FFB-E5AA-4DB3-A83B-129E27040006}" srcOrd="0" destOrd="0" presId="urn:microsoft.com/office/officeart/2018/2/layout/IconCircleList"/>
    <dgm:cxn modelId="{C57BA69D-FA1F-4D2B-9B6D-A3952A6FBF13}" type="presParOf" srcId="{BC54FF69-6061-4C24-9DF6-7EF051181267}" destId="{D181B264-F332-4925-BB12-FBB8CB7F6663}" srcOrd="1" destOrd="0" presId="urn:microsoft.com/office/officeart/2018/2/layout/IconCircleList"/>
    <dgm:cxn modelId="{9BD6A68B-CB2A-4621-AE19-F7B2A1CB78AB}" type="presParOf" srcId="{BC54FF69-6061-4C24-9DF6-7EF051181267}" destId="{AF85B768-3D9C-45EF-97C2-8EC773EAA930}" srcOrd="2" destOrd="0" presId="urn:microsoft.com/office/officeart/2018/2/layout/IconCircleList"/>
    <dgm:cxn modelId="{FFD9AC3E-6A8F-443E-8DCA-529D92C22011}" type="presParOf" srcId="{BC54FF69-6061-4C24-9DF6-7EF051181267}" destId="{DE93CFF9-A9E4-4701-AC14-15E46132A4F5}" srcOrd="3" destOrd="0" presId="urn:microsoft.com/office/officeart/2018/2/layout/IconCircleList"/>
    <dgm:cxn modelId="{2F9F1CBB-9DAA-4F97-87E3-81741869AE94}" type="presParOf" srcId="{878B8943-E21C-46A8-8A65-2E1EA3932ED8}" destId="{B032712A-604F-4717-BB79-44F85B921F95}" srcOrd="5" destOrd="0" presId="urn:microsoft.com/office/officeart/2018/2/layout/IconCircleList"/>
    <dgm:cxn modelId="{3C21BCA7-A946-450D-AB58-6AF6C7B6EEC9}" type="presParOf" srcId="{878B8943-E21C-46A8-8A65-2E1EA3932ED8}" destId="{29D7ECCE-1CA0-47FC-827B-726B74DEEEEE}" srcOrd="6" destOrd="0" presId="urn:microsoft.com/office/officeart/2018/2/layout/IconCircleList"/>
    <dgm:cxn modelId="{57B31759-DB0A-46DA-9ECE-3C6176402DAA}" type="presParOf" srcId="{29D7ECCE-1CA0-47FC-827B-726B74DEEEEE}" destId="{5F511C14-F153-424D-A308-9E84A24A764D}" srcOrd="0" destOrd="0" presId="urn:microsoft.com/office/officeart/2018/2/layout/IconCircleList"/>
    <dgm:cxn modelId="{0E9F1FBA-8CEC-4D52-AEE8-ABDA14A2C729}" type="presParOf" srcId="{29D7ECCE-1CA0-47FC-827B-726B74DEEEEE}" destId="{22B6F457-EB95-41DD-851E-744CF145CD30}" srcOrd="1" destOrd="0" presId="urn:microsoft.com/office/officeart/2018/2/layout/IconCircleList"/>
    <dgm:cxn modelId="{6CAEF542-BA9B-40BA-A5CD-61762B9FEE04}" type="presParOf" srcId="{29D7ECCE-1CA0-47FC-827B-726B74DEEEEE}" destId="{C59ADD66-7E8A-4F5E-B648-DA226B396EC2}" srcOrd="2" destOrd="0" presId="urn:microsoft.com/office/officeart/2018/2/layout/IconCircleList"/>
    <dgm:cxn modelId="{A8831ABB-9002-4E6A-B866-CEBE57472574}" type="presParOf" srcId="{29D7ECCE-1CA0-47FC-827B-726B74DEEEEE}" destId="{1AB5BA2B-27C4-4989-873E-891258019849}" srcOrd="3" destOrd="0" presId="urn:microsoft.com/office/officeart/2018/2/layout/IconCircleList"/>
    <dgm:cxn modelId="{28953AAB-21EB-43FD-A779-B3E1109833B9}" type="presParOf" srcId="{878B8943-E21C-46A8-8A65-2E1EA3932ED8}" destId="{02C20BB3-3151-4A2B-9139-E6B456412F15}" srcOrd="7" destOrd="0" presId="urn:microsoft.com/office/officeart/2018/2/layout/IconCircleList"/>
    <dgm:cxn modelId="{B811D3C4-44D3-4F5A-B67F-08E384DD84E7}" type="presParOf" srcId="{878B8943-E21C-46A8-8A65-2E1EA3932ED8}" destId="{07A7E9BD-7EF0-4DAB-8FFD-69815B88F926}" srcOrd="8" destOrd="0" presId="urn:microsoft.com/office/officeart/2018/2/layout/IconCircleList"/>
    <dgm:cxn modelId="{FFDA4593-EF98-4FC5-AA53-F47DDA1471BD}" type="presParOf" srcId="{07A7E9BD-7EF0-4DAB-8FFD-69815B88F926}" destId="{A4A3C31A-0476-4AC1-9DC3-43BA909A9AA9}" srcOrd="0" destOrd="0" presId="urn:microsoft.com/office/officeart/2018/2/layout/IconCircleList"/>
    <dgm:cxn modelId="{E5FDA505-7D1F-418F-96E0-5A4BAFB51419}" type="presParOf" srcId="{07A7E9BD-7EF0-4DAB-8FFD-69815B88F926}" destId="{58413535-E0D9-4646-ADFD-E2F69245FA6C}" srcOrd="1" destOrd="0" presId="urn:microsoft.com/office/officeart/2018/2/layout/IconCircleList"/>
    <dgm:cxn modelId="{8B40D884-3A07-4B70-A8CB-F831C7F0F8C9}" type="presParOf" srcId="{07A7E9BD-7EF0-4DAB-8FFD-69815B88F926}" destId="{AF499B7E-3C53-4480-9526-3D58A541CBD2}" srcOrd="2" destOrd="0" presId="urn:microsoft.com/office/officeart/2018/2/layout/IconCircleList"/>
    <dgm:cxn modelId="{660BFE40-71BA-494C-9F78-3C437EFB2267}" type="presParOf" srcId="{07A7E9BD-7EF0-4DAB-8FFD-69815B88F926}" destId="{ECC94B6E-4677-4683-9DB7-82883726C92E}" srcOrd="3" destOrd="0" presId="urn:microsoft.com/office/officeart/2018/2/layout/IconCircleList"/>
    <dgm:cxn modelId="{D8C3D624-7170-44EB-B841-0C13D24BCE3B}" type="presParOf" srcId="{878B8943-E21C-46A8-8A65-2E1EA3932ED8}" destId="{D63F6263-436E-4748-AE62-8806631CD2A9}" srcOrd="9" destOrd="0" presId="urn:microsoft.com/office/officeart/2018/2/layout/IconCircleList"/>
    <dgm:cxn modelId="{D3B644BF-67BB-4824-B7BC-76197AAC9F52}" type="presParOf" srcId="{878B8943-E21C-46A8-8A65-2E1EA3932ED8}" destId="{C2EF7CB1-7860-41A2-BEA0-B015EFAA9849}" srcOrd="10" destOrd="0" presId="urn:microsoft.com/office/officeart/2018/2/layout/IconCircleList"/>
    <dgm:cxn modelId="{9D07F4F6-3629-4849-B13E-90158D8136B9}" type="presParOf" srcId="{C2EF7CB1-7860-41A2-BEA0-B015EFAA9849}" destId="{82A905CF-72F5-4FC1-A748-B62F014171E1}" srcOrd="0" destOrd="0" presId="urn:microsoft.com/office/officeart/2018/2/layout/IconCircleList"/>
    <dgm:cxn modelId="{926B59BE-5B11-402B-B421-D4A2881E37F8}" type="presParOf" srcId="{C2EF7CB1-7860-41A2-BEA0-B015EFAA9849}" destId="{484812C0-8F0A-470F-AEE3-B43B99966F7C}" srcOrd="1" destOrd="0" presId="urn:microsoft.com/office/officeart/2018/2/layout/IconCircleList"/>
    <dgm:cxn modelId="{2C85477E-1C03-4D62-BEB5-FE017F426CC6}" type="presParOf" srcId="{C2EF7CB1-7860-41A2-BEA0-B015EFAA9849}" destId="{9F01197F-05C4-4177-AADC-3AAEF2A5851E}" srcOrd="2" destOrd="0" presId="urn:microsoft.com/office/officeart/2018/2/layout/IconCircleList"/>
    <dgm:cxn modelId="{8B2A9FED-7535-42CC-98B0-CEEA13B7B3F4}" type="presParOf" srcId="{C2EF7CB1-7860-41A2-BEA0-B015EFAA9849}" destId="{AF4483D4-AE67-403A-9FAF-4E4A590BA95D}"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9E152-08D6-4C3A-8427-86CAD6F8A1F6}">
      <dsp:nvSpPr>
        <dsp:cNvPr id="0" name=""/>
        <dsp:cNvSpPr/>
      </dsp:nvSpPr>
      <dsp:spPr>
        <a:xfrm>
          <a:off x="186662" y="744924"/>
          <a:ext cx="800214" cy="80021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3FA834-2395-4B9E-A030-1DE3C79BFA73}">
      <dsp:nvSpPr>
        <dsp:cNvPr id="0" name=""/>
        <dsp:cNvSpPr/>
      </dsp:nvSpPr>
      <dsp:spPr>
        <a:xfrm>
          <a:off x="354707" y="912969"/>
          <a:ext cx="464124" cy="4641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8E540E8-3DA5-4C45-BD42-F646829B97AF}">
      <dsp:nvSpPr>
        <dsp:cNvPr id="0" name=""/>
        <dsp:cNvSpPr/>
      </dsp:nvSpPr>
      <dsp:spPr>
        <a:xfrm>
          <a:off x="1158352" y="744924"/>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1" kern="1200"/>
            <a:t>Azure Blob Storage</a:t>
          </a:r>
          <a:r>
            <a:rPr lang="en-US" sz="1400" kern="1200"/>
            <a:t> → Stores travel datasets</a:t>
          </a:r>
        </a:p>
      </dsp:txBody>
      <dsp:txXfrm>
        <a:off x="1158352" y="744924"/>
        <a:ext cx="1886220" cy="800214"/>
      </dsp:txXfrm>
    </dsp:sp>
    <dsp:sp modelId="{71B1EF03-125F-4274-A14C-65FB4DE4608F}">
      <dsp:nvSpPr>
        <dsp:cNvPr id="0" name=""/>
        <dsp:cNvSpPr/>
      </dsp:nvSpPr>
      <dsp:spPr>
        <a:xfrm>
          <a:off x="3373232" y="744924"/>
          <a:ext cx="800214" cy="80021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6D4EAC-7551-4E43-9211-EF839112B446}">
      <dsp:nvSpPr>
        <dsp:cNvPr id="0" name=""/>
        <dsp:cNvSpPr/>
      </dsp:nvSpPr>
      <dsp:spPr>
        <a:xfrm>
          <a:off x="3541277" y="912969"/>
          <a:ext cx="464124" cy="4641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0DFC20-3F55-442D-B957-1793355B03A2}">
      <dsp:nvSpPr>
        <dsp:cNvPr id="0" name=""/>
        <dsp:cNvSpPr/>
      </dsp:nvSpPr>
      <dsp:spPr>
        <a:xfrm>
          <a:off x="4344921" y="744924"/>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a:t>
          </a:r>
          <a:br>
            <a:rPr lang="en-US" sz="1400" kern="1200"/>
          </a:br>
          <a:r>
            <a:rPr lang="en-US" sz="1400" b="1" kern="1200"/>
            <a:t>Azure Data Factory</a:t>
          </a:r>
          <a:r>
            <a:rPr lang="en-US" sz="1400" kern="1200"/>
            <a:t> → Data ingestion pipeline</a:t>
          </a:r>
        </a:p>
      </dsp:txBody>
      <dsp:txXfrm>
        <a:off x="4344921" y="744924"/>
        <a:ext cx="1886220" cy="800214"/>
      </dsp:txXfrm>
    </dsp:sp>
    <dsp:sp modelId="{0BDC6FFB-E5AA-4DB3-A83B-129E27040006}">
      <dsp:nvSpPr>
        <dsp:cNvPr id="0" name=""/>
        <dsp:cNvSpPr/>
      </dsp:nvSpPr>
      <dsp:spPr>
        <a:xfrm>
          <a:off x="6559802" y="744924"/>
          <a:ext cx="800214" cy="80021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81B264-F332-4925-BB12-FBB8CB7F6663}">
      <dsp:nvSpPr>
        <dsp:cNvPr id="0" name=""/>
        <dsp:cNvSpPr/>
      </dsp:nvSpPr>
      <dsp:spPr>
        <a:xfrm>
          <a:off x="6727847" y="912969"/>
          <a:ext cx="464124" cy="4641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93CFF9-A9E4-4701-AC14-15E46132A4F5}">
      <dsp:nvSpPr>
        <dsp:cNvPr id="0" name=""/>
        <dsp:cNvSpPr/>
      </dsp:nvSpPr>
      <dsp:spPr>
        <a:xfrm>
          <a:off x="7531491" y="744924"/>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a:t>
          </a:r>
          <a:br>
            <a:rPr lang="en-US" sz="1400" kern="1200" dirty="0"/>
          </a:br>
          <a:r>
            <a:rPr lang="en-US" sz="1400" b="1" kern="1200" dirty="0"/>
            <a:t>Azure Databricks</a:t>
          </a:r>
          <a:r>
            <a:rPr lang="en-US" sz="1400" kern="1200" dirty="0"/>
            <a:t>→ Data processing &amp; analytics</a:t>
          </a:r>
        </a:p>
      </dsp:txBody>
      <dsp:txXfrm>
        <a:off x="7531491" y="744924"/>
        <a:ext cx="1886220" cy="800214"/>
      </dsp:txXfrm>
    </dsp:sp>
    <dsp:sp modelId="{5F511C14-F153-424D-A308-9E84A24A764D}">
      <dsp:nvSpPr>
        <dsp:cNvPr id="0" name=""/>
        <dsp:cNvSpPr/>
      </dsp:nvSpPr>
      <dsp:spPr>
        <a:xfrm>
          <a:off x="186662" y="2178087"/>
          <a:ext cx="800214" cy="80021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B6F457-EB95-41DD-851E-744CF145CD30}">
      <dsp:nvSpPr>
        <dsp:cNvPr id="0" name=""/>
        <dsp:cNvSpPr/>
      </dsp:nvSpPr>
      <dsp:spPr>
        <a:xfrm>
          <a:off x="354707" y="2346132"/>
          <a:ext cx="464124" cy="4641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AB5BA2B-27C4-4989-873E-891258019849}">
      <dsp:nvSpPr>
        <dsp:cNvPr id="0" name=""/>
        <dsp:cNvSpPr/>
      </dsp:nvSpPr>
      <dsp:spPr>
        <a:xfrm>
          <a:off x="1158352" y="2178087"/>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a:t>
          </a:r>
          <a:br>
            <a:rPr lang="en-US" sz="1400" kern="1200"/>
          </a:br>
          <a:r>
            <a:rPr lang="en-US" sz="1400" b="1" kern="1200"/>
            <a:t>Azure Synapse Analytics</a:t>
          </a:r>
          <a:r>
            <a:rPr lang="en-US" sz="1400" kern="1200"/>
            <a:t> → Query &amp; analysis</a:t>
          </a:r>
        </a:p>
      </dsp:txBody>
      <dsp:txXfrm>
        <a:off x="1158352" y="2178087"/>
        <a:ext cx="1886220" cy="800214"/>
      </dsp:txXfrm>
    </dsp:sp>
    <dsp:sp modelId="{A4A3C31A-0476-4AC1-9DC3-43BA909A9AA9}">
      <dsp:nvSpPr>
        <dsp:cNvPr id="0" name=""/>
        <dsp:cNvSpPr/>
      </dsp:nvSpPr>
      <dsp:spPr>
        <a:xfrm>
          <a:off x="3373232" y="2178087"/>
          <a:ext cx="800214" cy="80021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413535-E0D9-4646-ADFD-E2F69245FA6C}">
      <dsp:nvSpPr>
        <dsp:cNvPr id="0" name=""/>
        <dsp:cNvSpPr/>
      </dsp:nvSpPr>
      <dsp:spPr>
        <a:xfrm>
          <a:off x="3541277" y="2346132"/>
          <a:ext cx="464124" cy="4641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C94B6E-4677-4683-9DB7-82883726C92E}">
      <dsp:nvSpPr>
        <dsp:cNvPr id="0" name=""/>
        <dsp:cNvSpPr/>
      </dsp:nvSpPr>
      <dsp:spPr>
        <a:xfrm>
          <a:off x="4344921" y="2178087"/>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dirty="0"/>
            <a:t>⬇</a:t>
          </a:r>
          <a:br>
            <a:rPr lang="en-US" sz="1400" kern="1200" dirty="0"/>
          </a:br>
          <a:r>
            <a:rPr lang="en-US" sz="1400" b="1" kern="1200" dirty="0"/>
            <a:t>Azure Machine Learning(Python ML)</a:t>
          </a:r>
          <a:endParaRPr lang="en-US" sz="1400" kern="1200" dirty="0"/>
        </a:p>
      </dsp:txBody>
      <dsp:txXfrm>
        <a:off x="4344921" y="2178087"/>
        <a:ext cx="1886220" cy="800214"/>
      </dsp:txXfrm>
    </dsp:sp>
    <dsp:sp modelId="{82A905CF-72F5-4FC1-A748-B62F014171E1}">
      <dsp:nvSpPr>
        <dsp:cNvPr id="0" name=""/>
        <dsp:cNvSpPr/>
      </dsp:nvSpPr>
      <dsp:spPr>
        <a:xfrm>
          <a:off x="6559802" y="2178087"/>
          <a:ext cx="800214" cy="80021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4812C0-8F0A-470F-AEE3-B43B99966F7C}">
      <dsp:nvSpPr>
        <dsp:cNvPr id="0" name=""/>
        <dsp:cNvSpPr/>
      </dsp:nvSpPr>
      <dsp:spPr>
        <a:xfrm>
          <a:off x="6727847" y="2346132"/>
          <a:ext cx="464124" cy="4641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4483D4-AE67-403A-9FAF-4E4A590BA95D}">
      <dsp:nvSpPr>
        <dsp:cNvPr id="0" name=""/>
        <dsp:cNvSpPr/>
      </dsp:nvSpPr>
      <dsp:spPr>
        <a:xfrm>
          <a:off x="7531491" y="2178087"/>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kern="1200"/>
            <a:t>⬇</a:t>
          </a:r>
          <a:br>
            <a:rPr lang="en-US" sz="1400" kern="1200"/>
          </a:br>
          <a:r>
            <a:rPr lang="en-US" sz="1400" b="1" kern="1200"/>
            <a:t>Power BI</a:t>
          </a:r>
          <a:r>
            <a:rPr lang="en-US" sz="1400" kern="1200"/>
            <a:t> → Dashboard</a:t>
          </a:r>
        </a:p>
      </dsp:txBody>
      <dsp:txXfrm>
        <a:off x="7531491" y="2178087"/>
        <a:ext cx="1886220" cy="80021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EC16E4-BA5B-43BF-9D6C-2DF2142746C1}"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C26E96-A3DF-4309-9D96-34B172044098}" type="slidenum">
              <a:rPr lang="en-US" smtClean="0"/>
              <a:t>‹#›</a:t>
            </a:fld>
            <a:endParaRPr lang="en-US"/>
          </a:p>
        </p:txBody>
      </p:sp>
    </p:spTree>
    <p:extLst>
      <p:ext uri="{BB962C8B-B14F-4D97-AF65-F5344CB8AC3E}">
        <p14:creationId xmlns:p14="http://schemas.microsoft.com/office/powerpoint/2010/main" val="2582027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82D5DE-8748-4392-B5AC-86F88A05F8CD}" type="datetimeFigureOut">
              <a:rPr lang="en-US" smtClean="0"/>
              <a:t>4/22/2026</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385B49E4-55A3-4ECD-89A4-2E6B7846C5C9}"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03647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82D5DE-8748-4392-B5AC-86F88A05F8CD}"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5B49E4-55A3-4ECD-89A4-2E6B7846C5C9}"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60538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82D5DE-8748-4392-B5AC-86F88A05F8CD}"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5B49E4-55A3-4ECD-89A4-2E6B7846C5C9}"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1087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82D5DE-8748-4392-B5AC-86F88A05F8CD}"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5B49E4-55A3-4ECD-89A4-2E6B7846C5C9}"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62928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82D5DE-8748-4392-B5AC-86F88A05F8CD}" type="datetimeFigureOut">
              <a:rPr lang="en-US" smtClean="0"/>
              <a:t>4/22/2026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5B49E4-55A3-4ECD-89A4-2E6B7846C5C9}"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73237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82D5DE-8748-4392-B5AC-86F88A05F8CD}" type="datetimeFigureOut">
              <a:rPr lang="en-US" smtClean="0"/>
              <a:t>4/22/2026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5B49E4-55A3-4ECD-89A4-2E6B7846C5C9}"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7068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82D5DE-8748-4392-B5AC-86F88A05F8CD}" type="datetimeFigureOut">
              <a:rPr lang="en-US" smtClean="0"/>
              <a:t>4/22/2026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5B49E4-55A3-4ECD-89A4-2E6B7846C5C9}" type="slidenum">
              <a:rPr lang="en-US" smtClean="0"/>
              <a:t>‹#›</a:t>
            </a:fld>
            <a:endParaRPr lang="en-US"/>
          </a:p>
        </p:txBody>
      </p:sp>
    </p:spTree>
    <p:extLst>
      <p:ext uri="{BB962C8B-B14F-4D97-AF65-F5344CB8AC3E}">
        <p14:creationId xmlns:p14="http://schemas.microsoft.com/office/powerpoint/2010/main" val="892494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82D5DE-8748-4392-B5AC-86F88A05F8CD}" type="datetimeFigureOut">
              <a:rPr lang="en-US" smtClean="0"/>
              <a:t>4/22/2026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5B49E4-55A3-4ECD-89A4-2E6B7846C5C9}"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69044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182D5DE-8748-4392-B5AC-86F88A05F8CD}" type="datetimeFigureOut">
              <a:rPr lang="en-US" smtClean="0"/>
              <a:t>4/22/2026</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385B49E4-55A3-4ECD-89A4-2E6B7846C5C9}"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75975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82D5DE-8748-4392-B5AC-86F88A05F8CD}"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5B49E4-55A3-4ECD-89A4-2E6B7846C5C9}"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9587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82D5DE-8748-4392-B5AC-86F88A05F8CD}" type="datetimeFigureOut">
              <a:rPr lang="en-US" smtClean="0"/>
              <a:t>4/22/2026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5B49E4-55A3-4ECD-89A4-2E6B7846C5C9}"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060631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182D5DE-8748-4392-B5AC-86F88A05F8CD}" type="datetimeFigureOut">
              <a:rPr lang="en-US" smtClean="0"/>
              <a:t>4/22/2026</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85B49E4-55A3-4ECD-89A4-2E6B7846C5C9}"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6652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1581D-A9C7-A39B-1CD0-94D3743BE43F}"/>
              </a:ext>
            </a:extLst>
          </p:cNvPr>
          <p:cNvSpPr>
            <a:spLocks noGrp="1"/>
          </p:cNvSpPr>
          <p:nvPr>
            <p:ph type="ctrTitle"/>
          </p:nvPr>
        </p:nvSpPr>
        <p:spPr/>
        <p:txBody>
          <a:bodyPr>
            <a:normAutofit/>
          </a:bodyPr>
          <a:lstStyle/>
          <a:p>
            <a:r>
              <a:rPr lang="en-US" sz="3600" dirty="0"/>
              <a:t>TRAVEL BEHAVIOR ANALYTICS AND SMART TRIP RECOMMENDATION SYSTEM</a:t>
            </a:r>
          </a:p>
        </p:txBody>
      </p:sp>
      <p:sp>
        <p:nvSpPr>
          <p:cNvPr id="3" name="Subtitle 2">
            <a:extLst>
              <a:ext uri="{FF2B5EF4-FFF2-40B4-BE49-F238E27FC236}">
                <a16:creationId xmlns:a16="http://schemas.microsoft.com/office/drawing/2014/main" id="{4F6D2374-9E82-B048-7339-C5A95369FCAE}"/>
              </a:ext>
            </a:extLst>
          </p:cNvPr>
          <p:cNvSpPr>
            <a:spLocks noGrp="1"/>
          </p:cNvSpPr>
          <p:nvPr>
            <p:ph type="subTitle" idx="1"/>
          </p:nvPr>
        </p:nvSpPr>
        <p:spPr>
          <a:xfrm>
            <a:off x="2417779" y="3367315"/>
            <a:ext cx="8637072" cy="977621"/>
          </a:xfrm>
        </p:spPr>
        <p:txBody>
          <a:bodyPr>
            <a:noAutofit/>
          </a:bodyPr>
          <a:lstStyle/>
          <a:p>
            <a:pPr>
              <a:lnSpc>
                <a:spcPct val="150000"/>
              </a:lnSpc>
            </a:pPr>
            <a:r>
              <a:rPr lang="en-US" sz="1400" dirty="0"/>
              <a:t>Team Members :</a:t>
            </a:r>
            <a:br>
              <a:rPr lang="en-US" sz="1400" dirty="0"/>
            </a:br>
            <a:r>
              <a:rPr lang="en-US" sz="1400" dirty="0"/>
              <a:t>K. Nikhil (2320090025)</a:t>
            </a:r>
          </a:p>
          <a:p>
            <a:pPr>
              <a:lnSpc>
                <a:spcPct val="150000"/>
              </a:lnSpc>
            </a:pPr>
            <a:r>
              <a:rPr lang="en-US" sz="1400" dirty="0"/>
              <a:t>B. Joshita(2320090048)</a:t>
            </a:r>
          </a:p>
          <a:p>
            <a:pPr>
              <a:lnSpc>
                <a:spcPct val="150000"/>
              </a:lnSpc>
            </a:pPr>
            <a:r>
              <a:rPr lang="en-US" sz="1400" dirty="0"/>
              <a:t>V. Bhavya(2320030319)</a:t>
            </a:r>
          </a:p>
          <a:p>
            <a:pPr>
              <a:lnSpc>
                <a:spcPct val="150000"/>
              </a:lnSpc>
            </a:pPr>
            <a:r>
              <a:rPr lang="en-US" sz="1400" dirty="0"/>
              <a:t>Guide :  </a:t>
            </a:r>
            <a:r>
              <a:rPr lang="en-US" sz="1400" dirty="0" err="1"/>
              <a:t>Mrs.pRATHUSHA</a:t>
            </a:r>
            <a:endParaRPr lang="en-US" sz="1400" dirty="0"/>
          </a:p>
          <a:p>
            <a:pPr>
              <a:lnSpc>
                <a:spcPct val="150000"/>
              </a:lnSpc>
            </a:pPr>
            <a:r>
              <a:rPr lang="en-US" sz="1400" dirty="0"/>
              <a:t>Course: Cloud based data analytics </a:t>
            </a:r>
            <a:r>
              <a:rPr lang="en-US" sz="1400" dirty="0" err="1"/>
              <a:t>speciality</a:t>
            </a:r>
            <a:br>
              <a:rPr lang="en-US" sz="1400" dirty="0"/>
            </a:br>
            <a:r>
              <a:rPr lang="en-US" sz="1400" dirty="0"/>
              <a:t>A.Y: 2025–2026</a:t>
            </a:r>
          </a:p>
          <a:p>
            <a:endParaRPr lang="en-US" sz="1400" dirty="0"/>
          </a:p>
        </p:txBody>
      </p:sp>
    </p:spTree>
    <p:extLst>
      <p:ext uri="{BB962C8B-B14F-4D97-AF65-F5344CB8AC3E}">
        <p14:creationId xmlns:p14="http://schemas.microsoft.com/office/powerpoint/2010/main" val="1080823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CDB8B-C3B1-B88C-8EC1-C30A50BC1970}"/>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B1CCB660-6368-0E71-93F2-A586BC1B6326}"/>
              </a:ext>
            </a:extLst>
          </p:cNvPr>
          <p:cNvSpPr>
            <a:spLocks noGrp="1"/>
          </p:cNvSpPr>
          <p:nvPr>
            <p:ph idx="1"/>
          </p:nvPr>
        </p:nvSpPr>
        <p:spPr>
          <a:xfrm>
            <a:off x="152400" y="2015732"/>
            <a:ext cx="11963399" cy="4123811"/>
          </a:xfrm>
        </p:spPr>
        <p:txBody>
          <a:bodyPr>
            <a:normAutofit/>
          </a:bodyPr>
          <a:lstStyle/>
          <a:p>
            <a:r>
              <a:rPr lang="en-US" sz="1800" dirty="0"/>
              <a:t>The </a:t>
            </a:r>
            <a:r>
              <a:rPr lang="en-US" sz="1800" i="1" dirty="0"/>
              <a:t>Travel Data Analysis and Recommendation System</a:t>
            </a:r>
            <a:r>
              <a:rPr lang="en-US" sz="1800" dirty="0"/>
              <a:t> is designed to analyze travel-related data and extract meaningful insights using cloud-based technologies. This project utilizes Microsoft Azure Machine Learning for data management and model training, and Power BI for interactive data visualization. The dataset includes information such as destinations, travel duration, accommodation types, costs, and traveler details. Data preprocessing techniques were applied to clean and transform the dataset, and Automated Machine Learning (</a:t>
            </a:r>
            <a:r>
              <a:rPr lang="en-US" sz="1800" dirty="0" err="1"/>
              <a:t>AutoML</a:t>
            </a:r>
            <a:r>
              <a:rPr lang="en-US" sz="1800" dirty="0"/>
              <a:t>) was used to train multiple models, with the Voting Ensemble model identified as the best-performing one. Various visualizations such as bar charts, pie charts, line graphs, and maps were created to analyze travel trends, cost distribution, and duration patterns. The results highlight key insights such as popular destinations, peak travel periods, and cost variations. Overall, the system demonstrates how cloud computing, machine learning, and visualization tools can be effectively integrated to support data-driven decision-making in the travel and tourism domain.</a:t>
            </a:r>
          </a:p>
        </p:txBody>
      </p:sp>
    </p:spTree>
    <p:extLst>
      <p:ext uri="{BB962C8B-B14F-4D97-AF65-F5344CB8AC3E}">
        <p14:creationId xmlns:p14="http://schemas.microsoft.com/office/powerpoint/2010/main" val="1022742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8E74E-F926-2414-FBBE-F84B3425795A}"/>
              </a:ext>
            </a:extLst>
          </p:cNvPr>
          <p:cNvSpPr>
            <a:spLocks noGrp="1"/>
          </p:cNvSpPr>
          <p:nvPr>
            <p:ph type="title"/>
          </p:nvPr>
        </p:nvSpPr>
        <p:spPr/>
        <p:txBody>
          <a:bodyPr/>
          <a:lstStyle/>
          <a:p>
            <a:r>
              <a:rPr lang="en-US" dirty="0"/>
              <a:t>INTRODUCTION &amp; MOTIVATION</a:t>
            </a:r>
          </a:p>
        </p:txBody>
      </p:sp>
      <p:sp>
        <p:nvSpPr>
          <p:cNvPr id="4" name="TextBox 3">
            <a:extLst>
              <a:ext uri="{FF2B5EF4-FFF2-40B4-BE49-F238E27FC236}">
                <a16:creationId xmlns:a16="http://schemas.microsoft.com/office/drawing/2014/main" id="{CC4793B5-48E1-8E71-A877-F8B17FA4D06E}"/>
              </a:ext>
            </a:extLst>
          </p:cNvPr>
          <p:cNvSpPr txBox="1"/>
          <p:nvPr/>
        </p:nvSpPr>
        <p:spPr>
          <a:xfrm>
            <a:off x="1451579" y="1994238"/>
            <a:ext cx="6101442" cy="4198522"/>
          </a:xfrm>
          <a:prstGeom prst="rect">
            <a:avLst/>
          </a:prstGeom>
          <a:noFill/>
        </p:spPr>
        <p:txBody>
          <a:bodyPr wrap="square">
            <a:spAutoFit/>
          </a:bodyPr>
          <a:lstStyle/>
          <a:p>
            <a:pPr>
              <a:lnSpc>
                <a:spcPct val="150000"/>
              </a:lnSpc>
            </a:pPr>
            <a:r>
              <a:rPr lang="en-US" b="1" dirty="0"/>
              <a:t>Problem:</a:t>
            </a:r>
          </a:p>
          <a:p>
            <a:pPr marL="285750" indent="-285750">
              <a:lnSpc>
                <a:spcPct val="150000"/>
              </a:lnSpc>
              <a:buFont typeface="Arial" panose="020B0604020202020204" pitchFamily="34" charset="0"/>
              <a:buChar char="•"/>
            </a:pPr>
            <a:r>
              <a:rPr lang="en-US" dirty="0"/>
              <a:t>Travel decisions are complex</a:t>
            </a:r>
          </a:p>
          <a:p>
            <a:pPr marL="285750" indent="-285750">
              <a:lnSpc>
                <a:spcPct val="150000"/>
              </a:lnSpc>
              <a:buFont typeface="Arial" panose="020B0604020202020204" pitchFamily="34" charset="0"/>
              <a:buChar char="•"/>
            </a:pPr>
            <a:r>
              <a:rPr lang="en-US" dirty="0"/>
              <a:t>Generic recommendations are not useful</a:t>
            </a:r>
          </a:p>
          <a:p>
            <a:pPr marL="285750" indent="-285750">
              <a:lnSpc>
                <a:spcPct val="150000"/>
              </a:lnSpc>
              <a:buFont typeface="Arial" panose="020B0604020202020204" pitchFamily="34" charset="0"/>
              <a:buChar char="•"/>
            </a:pPr>
            <a:r>
              <a:rPr lang="en-US" dirty="0"/>
              <a:t>Travelers need personalized suggestions</a:t>
            </a:r>
          </a:p>
          <a:p>
            <a:pPr>
              <a:lnSpc>
                <a:spcPct val="150000"/>
              </a:lnSpc>
            </a:pPr>
            <a:r>
              <a:rPr lang="en-US" b="1" dirty="0"/>
              <a:t>Motivation:</a:t>
            </a:r>
          </a:p>
          <a:p>
            <a:pPr marL="285750" indent="-285750">
              <a:lnSpc>
                <a:spcPct val="150000"/>
              </a:lnSpc>
              <a:buFont typeface="Arial" panose="020B0604020202020204" pitchFamily="34" charset="0"/>
              <a:buChar char="•"/>
            </a:pPr>
            <a:r>
              <a:rPr lang="en-US" dirty="0"/>
              <a:t>Use cloud analytics to understand travel behavior</a:t>
            </a:r>
          </a:p>
          <a:p>
            <a:pPr>
              <a:lnSpc>
                <a:spcPct val="150000"/>
              </a:lnSpc>
            </a:pPr>
            <a:r>
              <a:rPr lang="en-US" b="1" dirty="0"/>
              <a:t>Real-world relevance:</a:t>
            </a:r>
          </a:p>
          <a:p>
            <a:pPr marL="285750" indent="-285750">
              <a:lnSpc>
                <a:spcPct val="150000"/>
              </a:lnSpc>
              <a:buFont typeface="Arial" panose="020B0604020202020204" pitchFamily="34" charset="0"/>
              <a:buChar char="•"/>
            </a:pPr>
            <a:r>
              <a:rPr lang="en-US" dirty="0"/>
              <a:t>Tourism industry</a:t>
            </a:r>
          </a:p>
          <a:p>
            <a:pPr marL="285750" indent="-285750">
              <a:lnSpc>
                <a:spcPct val="150000"/>
              </a:lnSpc>
              <a:buFont typeface="Arial" panose="020B0604020202020204" pitchFamily="34" charset="0"/>
              <a:buChar char="•"/>
            </a:pPr>
            <a:r>
              <a:rPr lang="en-US" dirty="0"/>
              <a:t>Travel apps</a:t>
            </a:r>
          </a:p>
          <a:p>
            <a:pPr marL="285750" indent="-285750">
              <a:lnSpc>
                <a:spcPct val="150000"/>
              </a:lnSpc>
              <a:buFont typeface="Arial" panose="020B0604020202020204" pitchFamily="34" charset="0"/>
              <a:buChar char="•"/>
            </a:pPr>
            <a:r>
              <a:rPr lang="en-US" dirty="0"/>
              <a:t>Personalized trip planning</a:t>
            </a:r>
          </a:p>
        </p:txBody>
      </p:sp>
    </p:spTree>
    <p:extLst>
      <p:ext uri="{BB962C8B-B14F-4D97-AF65-F5344CB8AC3E}">
        <p14:creationId xmlns:p14="http://schemas.microsoft.com/office/powerpoint/2010/main" val="11822339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963B7-14F2-FCF9-8B90-BBAC6AE637E8}"/>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630C8BDC-93E1-7CD8-A22E-BDCD1120EA1B}"/>
              </a:ext>
            </a:extLst>
          </p:cNvPr>
          <p:cNvSpPr>
            <a:spLocks noGrp="1"/>
          </p:cNvSpPr>
          <p:nvPr>
            <p:ph idx="1"/>
          </p:nvPr>
        </p:nvSpPr>
        <p:spPr>
          <a:xfrm>
            <a:off x="1451579" y="2015732"/>
            <a:ext cx="10609792" cy="4037749"/>
          </a:xfrm>
        </p:spPr>
        <p:txBody>
          <a:bodyPr>
            <a:normAutofit fontScale="55000" lnSpcReduction="20000"/>
          </a:bodyPr>
          <a:lstStyle/>
          <a:p>
            <a:pPr marL="0" indent="0">
              <a:buNone/>
            </a:pPr>
            <a:r>
              <a:rPr lang="en-US" sz="3300" b="1" dirty="0"/>
              <a:t>Existing travel recommendation platforms primarily rely on:</a:t>
            </a:r>
          </a:p>
          <a:p>
            <a:r>
              <a:rPr lang="en-US" sz="3300" dirty="0"/>
              <a:t>Popularity trends</a:t>
            </a:r>
          </a:p>
          <a:p>
            <a:r>
              <a:rPr lang="en-US" sz="3300" dirty="0"/>
              <a:t>Static reviews</a:t>
            </a:r>
          </a:p>
          <a:p>
            <a:r>
              <a:rPr lang="en-US" sz="3300" dirty="0"/>
              <a:t>Basic filtering</a:t>
            </a:r>
          </a:p>
          <a:p>
            <a:pPr marL="0" indent="0">
              <a:buNone/>
            </a:pPr>
            <a:r>
              <a:rPr lang="en-US" sz="3300" b="1" dirty="0"/>
              <a:t>These systems:</a:t>
            </a:r>
          </a:p>
          <a:p>
            <a:r>
              <a:rPr lang="en-US" sz="3300" dirty="0"/>
              <a:t>Fail to analyze individual travel behavior</a:t>
            </a:r>
          </a:p>
          <a:p>
            <a:r>
              <a:rPr lang="en-US" sz="3300" dirty="0"/>
              <a:t>Do not adapt to user preferences over time</a:t>
            </a:r>
          </a:p>
          <a:p>
            <a:r>
              <a:rPr lang="en-US" sz="3300" dirty="0"/>
              <a:t>Lack scalability for large behavioral datasets</a:t>
            </a:r>
          </a:p>
          <a:p>
            <a:pPr marL="0" indent="0">
              <a:buNone/>
            </a:pPr>
            <a:r>
              <a:rPr lang="en-US" sz="3300" dirty="0"/>
              <a:t>Therefore, there is a need for a cloud-based analytical system that can transform user travel patterns into actionable trip recommendations.</a:t>
            </a:r>
          </a:p>
          <a:p>
            <a:endParaRPr lang="en-US" dirty="0"/>
          </a:p>
        </p:txBody>
      </p:sp>
    </p:spTree>
    <p:extLst>
      <p:ext uri="{BB962C8B-B14F-4D97-AF65-F5344CB8AC3E}">
        <p14:creationId xmlns:p14="http://schemas.microsoft.com/office/powerpoint/2010/main" val="845698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8AB2C-1E6E-4592-297C-C152C777F87D}"/>
              </a:ext>
            </a:extLst>
          </p:cNvPr>
          <p:cNvSpPr>
            <a:spLocks noGrp="1"/>
          </p:cNvSpPr>
          <p:nvPr>
            <p:ph type="title"/>
          </p:nvPr>
        </p:nvSpPr>
        <p:spPr/>
        <p:txBody>
          <a:bodyPr/>
          <a:lstStyle/>
          <a:p>
            <a:r>
              <a:rPr lang="en-US" dirty="0"/>
              <a:t>OBJECTIVES</a:t>
            </a:r>
          </a:p>
        </p:txBody>
      </p:sp>
      <p:sp>
        <p:nvSpPr>
          <p:cNvPr id="4" name="Rectangle 1">
            <a:extLst>
              <a:ext uri="{FF2B5EF4-FFF2-40B4-BE49-F238E27FC236}">
                <a16:creationId xmlns:a16="http://schemas.microsoft.com/office/drawing/2014/main" id="{95135175-0D3B-B1D0-F242-A984FABC8108}"/>
              </a:ext>
            </a:extLst>
          </p:cNvPr>
          <p:cNvSpPr>
            <a:spLocks noGrp="1" noChangeArrowheads="1"/>
          </p:cNvSpPr>
          <p:nvPr>
            <p:ph idx="1"/>
          </p:nvPr>
        </p:nvSpPr>
        <p:spPr bwMode="auto">
          <a:xfrm>
            <a:off x="1451579" y="2082730"/>
            <a:ext cx="6554167" cy="1705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To analyze user travel behavior using cloud analytics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To identify travel patterns based on budget, season, and preferences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To design a scalable cloud-based recommendation framework</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To generate intelligent and personalized trip suggestions</a:t>
            </a:r>
          </a:p>
        </p:txBody>
      </p:sp>
    </p:spTree>
    <p:extLst>
      <p:ext uri="{BB962C8B-B14F-4D97-AF65-F5344CB8AC3E}">
        <p14:creationId xmlns:p14="http://schemas.microsoft.com/office/powerpoint/2010/main" val="3788767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7AB08-CB7F-D3D8-405C-90FC5C15813B}"/>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a16="http://schemas.microsoft.com/office/drawing/2014/main" id="{FC285EF8-B9B3-2FC2-1B55-6C76D9FE6E65}"/>
              </a:ext>
            </a:extLst>
          </p:cNvPr>
          <p:cNvSpPr>
            <a:spLocks noGrp="1"/>
          </p:cNvSpPr>
          <p:nvPr>
            <p:ph idx="1"/>
          </p:nvPr>
        </p:nvSpPr>
        <p:spPr/>
        <p:txBody>
          <a:bodyPr>
            <a:normAutofit fontScale="92500" lnSpcReduction="10000"/>
          </a:bodyPr>
          <a:lstStyle/>
          <a:p>
            <a:pPr marL="0" indent="0">
              <a:buNone/>
            </a:pPr>
            <a:r>
              <a:rPr lang="en-US" sz="1900" b="1" dirty="0"/>
              <a:t>Existing systems focus on:</a:t>
            </a:r>
          </a:p>
          <a:p>
            <a:r>
              <a:rPr lang="en-US" sz="1900" dirty="0"/>
              <a:t>Review-based suggestions</a:t>
            </a:r>
          </a:p>
          <a:p>
            <a:r>
              <a:rPr lang="en-US" sz="1900" dirty="0"/>
              <a:t>Popular destination ranking</a:t>
            </a:r>
          </a:p>
          <a:p>
            <a:r>
              <a:rPr lang="en-US" sz="1900" dirty="0"/>
              <a:t>Collaborative filtering</a:t>
            </a:r>
          </a:p>
          <a:p>
            <a:pPr marL="0" indent="0">
              <a:buNone/>
            </a:pPr>
            <a:r>
              <a:rPr lang="en-US" sz="1900" b="1" dirty="0"/>
              <a:t>However, they lack:</a:t>
            </a:r>
          </a:p>
          <a:p>
            <a:r>
              <a:rPr lang="en-US" sz="1900" dirty="0"/>
              <a:t>Context-aware recommendations</a:t>
            </a:r>
          </a:p>
          <a:p>
            <a:r>
              <a:rPr lang="en-US" sz="1900" dirty="0"/>
              <a:t>Cloud-based scalability</a:t>
            </a:r>
          </a:p>
          <a:p>
            <a:r>
              <a:rPr lang="en-US" sz="1900" dirty="0"/>
              <a:t>Real-time behavior analysis</a:t>
            </a:r>
          </a:p>
          <a:p>
            <a:endParaRPr lang="en-US" dirty="0"/>
          </a:p>
        </p:txBody>
      </p:sp>
    </p:spTree>
    <p:extLst>
      <p:ext uri="{BB962C8B-B14F-4D97-AF65-F5344CB8AC3E}">
        <p14:creationId xmlns:p14="http://schemas.microsoft.com/office/powerpoint/2010/main" val="1660379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B0932-3250-8D92-D02F-0E3CC3D72047}"/>
              </a:ext>
            </a:extLst>
          </p:cNvPr>
          <p:cNvSpPr>
            <a:spLocks noGrp="1"/>
          </p:cNvSpPr>
          <p:nvPr>
            <p:ph type="title"/>
          </p:nvPr>
        </p:nvSpPr>
        <p:spPr/>
        <p:txBody>
          <a:bodyPr/>
          <a:lstStyle/>
          <a:p>
            <a:r>
              <a:rPr lang="en-US" dirty="0"/>
              <a:t>Proposed Methodology</a:t>
            </a:r>
          </a:p>
        </p:txBody>
      </p:sp>
      <p:sp>
        <p:nvSpPr>
          <p:cNvPr id="4" name="TextBox 3">
            <a:extLst>
              <a:ext uri="{FF2B5EF4-FFF2-40B4-BE49-F238E27FC236}">
                <a16:creationId xmlns:a16="http://schemas.microsoft.com/office/drawing/2014/main" id="{0558F993-170F-0510-0295-4F27ED9FAB7B}"/>
              </a:ext>
            </a:extLst>
          </p:cNvPr>
          <p:cNvSpPr txBox="1"/>
          <p:nvPr/>
        </p:nvSpPr>
        <p:spPr>
          <a:xfrm>
            <a:off x="1451579" y="2136338"/>
            <a:ext cx="6101442" cy="3783023"/>
          </a:xfrm>
          <a:prstGeom prst="rect">
            <a:avLst/>
          </a:prstGeom>
          <a:noFill/>
        </p:spPr>
        <p:txBody>
          <a:bodyPr wrap="square">
            <a:spAutoFit/>
          </a:bodyPr>
          <a:lstStyle/>
          <a:p>
            <a:pPr>
              <a:lnSpc>
                <a:spcPct val="150000"/>
              </a:lnSpc>
              <a:buNone/>
            </a:pPr>
            <a:r>
              <a:rPr lang="en-US" b="1" dirty="0"/>
              <a:t>Approach:</a:t>
            </a:r>
          </a:p>
          <a:p>
            <a:pPr>
              <a:lnSpc>
                <a:spcPct val="150000"/>
              </a:lnSpc>
              <a:buFont typeface="+mj-lt"/>
              <a:buAutoNum type="arabicPeriod"/>
            </a:pPr>
            <a:r>
              <a:rPr lang="en-US" dirty="0"/>
              <a:t>Collect travel data</a:t>
            </a:r>
          </a:p>
          <a:p>
            <a:pPr>
              <a:lnSpc>
                <a:spcPct val="150000"/>
              </a:lnSpc>
              <a:buFont typeface="+mj-lt"/>
              <a:buAutoNum type="arabicPeriod"/>
            </a:pPr>
            <a:r>
              <a:rPr lang="en-US" dirty="0"/>
              <a:t>Store in cloud</a:t>
            </a:r>
          </a:p>
          <a:p>
            <a:pPr>
              <a:lnSpc>
                <a:spcPct val="150000"/>
              </a:lnSpc>
              <a:buFont typeface="+mj-lt"/>
              <a:buAutoNum type="arabicPeriod"/>
            </a:pPr>
            <a:r>
              <a:rPr lang="en-US" dirty="0"/>
              <a:t>Analyze patterns</a:t>
            </a:r>
          </a:p>
          <a:p>
            <a:pPr>
              <a:lnSpc>
                <a:spcPct val="150000"/>
              </a:lnSpc>
              <a:buFont typeface="+mj-lt"/>
              <a:buAutoNum type="arabicPeriod"/>
            </a:pPr>
            <a:r>
              <a:rPr lang="en-US" dirty="0"/>
              <a:t>Recommend trips</a:t>
            </a:r>
          </a:p>
          <a:p>
            <a:pPr>
              <a:lnSpc>
                <a:spcPct val="150000"/>
              </a:lnSpc>
              <a:buNone/>
            </a:pPr>
            <a:r>
              <a:rPr lang="en-US" b="1" dirty="0"/>
              <a:t>Cloud Tools:</a:t>
            </a:r>
          </a:p>
          <a:p>
            <a:pPr>
              <a:lnSpc>
                <a:spcPct val="150000"/>
              </a:lnSpc>
              <a:buFont typeface="Arial" panose="020B0604020202020204" pitchFamily="34" charset="0"/>
              <a:buChar char="•"/>
            </a:pPr>
            <a:r>
              <a:rPr lang="en-US" dirty="0"/>
              <a:t>Azure Blob Storage</a:t>
            </a:r>
          </a:p>
          <a:p>
            <a:pPr>
              <a:lnSpc>
                <a:spcPct val="150000"/>
              </a:lnSpc>
              <a:buFont typeface="Arial" panose="020B0604020202020204" pitchFamily="34" charset="0"/>
              <a:buChar char="•"/>
            </a:pPr>
            <a:r>
              <a:rPr lang="en-US" dirty="0"/>
              <a:t>Azure Blob Storage</a:t>
            </a:r>
          </a:p>
          <a:p>
            <a:pPr>
              <a:lnSpc>
                <a:spcPct val="150000"/>
              </a:lnSpc>
              <a:buFont typeface="Arial" panose="020B0604020202020204" pitchFamily="34" charset="0"/>
              <a:buChar char="•"/>
            </a:pPr>
            <a:r>
              <a:rPr lang="en-US" dirty="0"/>
              <a:t>Azure Synapse Analytics</a:t>
            </a:r>
          </a:p>
        </p:txBody>
      </p:sp>
    </p:spTree>
    <p:extLst>
      <p:ext uri="{BB962C8B-B14F-4D97-AF65-F5344CB8AC3E}">
        <p14:creationId xmlns:p14="http://schemas.microsoft.com/office/powerpoint/2010/main" val="1809848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5785E-80D1-ABF9-61BF-843C8F666FF3}"/>
              </a:ext>
            </a:extLst>
          </p:cNvPr>
          <p:cNvSpPr>
            <a:spLocks noGrp="1"/>
          </p:cNvSpPr>
          <p:nvPr>
            <p:ph type="title"/>
          </p:nvPr>
        </p:nvSpPr>
        <p:spPr>
          <a:xfrm>
            <a:off x="1451579" y="1474970"/>
            <a:ext cx="4172213" cy="3152742"/>
          </a:xfrm>
        </p:spPr>
        <p:txBody>
          <a:bodyPr anchor="ctr">
            <a:normAutofit/>
          </a:bodyPr>
          <a:lstStyle/>
          <a:p>
            <a:r>
              <a:rPr lang="en-US"/>
              <a:t>System Architecture</a:t>
            </a:r>
            <a:endParaRPr lang="en-US" dirty="0"/>
          </a:p>
        </p:txBody>
      </p:sp>
      <p:pic>
        <p:nvPicPr>
          <p:cNvPr id="6" name="Picture 5">
            <a:extLst>
              <a:ext uri="{FF2B5EF4-FFF2-40B4-BE49-F238E27FC236}">
                <a16:creationId xmlns:a16="http://schemas.microsoft.com/office/drawing/2014/main" id="{CE1B9EEB-B235-A880-10B3-FD49A797E758}"/>
              </a:ext>
            </a:extLst>
          </p:cNvPr>
          <p:cNvPicPr>
            <a:picLocks noChangeAspect="1"/>
          </p:cNvPicPr>
          <p:nvPr/>
        </p:nvPicPr>
        <p:blipFill>
          <a:blip r:embed="rId2"/>
          <a:stretch>
            <a:fillRect/>
          </a:stretch>
        </p:blipFill>
        <p:spPr>
          <a:xfrm>
            <a:off x="6879280" y="805583"/>
            <a:ext cx="3390704" cy="4660762"/>
          </a:xfrm>
          <a:prstGeom prst="rect">
            <a:avLst/>
          </a:prstGeom>
        </p:spPr>
      </p:pic>
      <p:sp>
        <p:nvSpPr>
          <p:cNvPr id="5" name="AutoShape 2" descr="Output image">
            <a:extLst>
              <a:ext uri="{FF2B5EF4-FFF2-40B4-BE49-F238E27FC236}">
                <a16:creationId xmlns:a16="http://schemas.microsoft.com/office/drawing/2014/main" id="{EBA3CA0B-9415-01BA-8698-A094F76BB20E}"/>
              </a:ext>
            </a:extLst>
          </p:cNvPr>
          <p:cNvSpPr>
            <a:spLocks noChangeAspect="1" noChangeArrowheads="1"/>
          </p:cNvSpPr>
          <p:nvPr/>
        </p:nvSpPr>
        <p:spPr bwMode="auto">
          <a:xfrm flipV="1">
            <a:off x="3004457" y="3581399"/>
            <a:ext cx="3243943" cy="324394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9636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445EA-92C0-A2CB-C425-629F5DD987EE}"/>
              </a:ext>
            </a:extLst>
          </p:cNvPr>
          <p:cNvSpPr>
            <a:spLocks noGrp="1"/>
          </p:cNvSpPr>
          <p:nvPr>
            <p:ph type="title"/>
          </p:nvPr>
        </p:nvSpPr>
        <p:spPr/>
        <p:txBody>
          <a:bodyPr>
            <a:normAutofit/>
          </a:bodyPr>
          <a:lstStyle/>
          <a:p>
            <a:r>
              <a:rPr lang="en-US" dirty="0"/>
              <a:t>Azure Components Used</a:t>
            </a:r>
          </a:p>
        </p:txBody>
      </p:sp>
      <p:graphicFrame>
        <p:nvGraphicFramePr>
          <p:cNvPr id="5" name="Content Placeholder 2">
            <a:extLst>
              <a:ext uri="{FF2B5EF4-FFF2-40B4-BE49-F238E27FC236}">
                <a16:creationId xmlns:a16="http://schemas.microsoft.com/office/drawing/2014/main" id="{7B06264C-3B88-C799-9B9A-7BE7C28C5CD1}"/>
              </a:ext>
            </a:extLst>
          </p:cNvPr>
          <p:cNvGraphicFramePr>
            <a:graphicFrameLocks noGrp="1"/>
          </p:cNvGraphicFramePr>
          <p:nvPr>
            <p:ph idx="1"/>
            <p:extLst>
              <p:ext uri="{D42A27DB-BD31-4B8C-83A1-F6EECF244321}">
                <p14:modId xmlns:p14="http://schemas.microsoft.com/office/powerpoint/2010/main" val="3470821579"/>
              </p:ext>
            </p:extLst>
          </p:nvPr>
        </p:nvGraphicFramePr>
        <p:xfrm>
          <a:off x="1450975" y="2331497"/>
          <a:ext cx="9604375" cy="37232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7050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2E0AD-F0DD-CE40-CC49-615D605D91BA}"/>
              </a:ext>
            </a:extLst>
          </p:cNvPr>
          <p:cNvSpPr>
            <a:spLocks noGrp="1"/>
          </p:cNvSpPr>
          <p:nvPr>
            <p:ph type="title"/>
          </p:nvPr>
        </p:nvSpPr>
        <p:spPr/>
        <p:txBody>
          <a:bodyPr/>
          <a:lstStyle/>
          <a:p>
            <a:r>
              <a:rPr lang="en-US" dirty="0"/>
              <a:t>DATA &amp; CLOUD SERVICES USED</a:t>
            </a:r>
          </a:p>
        </p:txBody>
      </p:sp>
      <p:sp>
        <p:nvSpPr>
          <p:cNvPr id="3" name="Content Placeholder 2">
            <a:extLst>
              <a:ext uri="{FF2B5EF4-FFF2-40B4-BE49-F238E27FC236}">
                <a16:creationId xmlns:a16="http://schemas.microsoft.com/office/drawing/2014/main" id="{2CFB7674-9A2B-EF9D-1EB6-615350AF71E4}"/>
              </a:ext>
            </a:extLst>
          </p:cNvPr>
          <p:cNvSpPr>
            <a:spLocks noGrp="1"/>
          </p:cNvSpPr>
          <p:nvPr>
            <p:ph idx="1"/>
          </p:nvPr>
        </p:nvSpPr>
        <p:spPr/>
        <p:txBody>
          <a:bodyPr/>
          <a:lstStyle/>
          <a:p>
            <a:pPr marL="0" indent="0">
              <a:buNone/>
            </a:pPr>
            <a:r>
              <a:rPr lang="en-US" b="1" dirty="0"/>
              <a:t>Data Used</a:t>
            </a:r>
          </a:p>
          <a:p>
            <a:r>
              <a:rPr lang="en-US" dirty="0"/>
              <a:t>Travel history</a:t>
            </a:r>
          </a:p>
          <a:p>
            <a:r>
              <a:rPr lang="en-US" dirty="0"/>
              <a:t>Budget patterns</a:t>
            </a:r>
          </a:p>
          <a:p>
            <a:r>
              <a:rPr lang="en-US" dirty="0"/>
              <a:t>Seasonal preferences</a:t>
            </a:r>
          </a:p>
          <a:p>
            <a:r>
              <a:rPr lang="en-US" dirty="0"/>
              <a:t>Travel type</a:t>
            </a:r>
          </a:p>
          <a:p>
            <a:r>
              <a:rPr lang="en-US" dirty="0"/>
              <a:t>Destination choices</a:t>
            </a:r>
          </a:p>
          <a:p>
            <a:endParaRPr lang="en-US" dirty="0"/>
          </a:p>
        </p:txBody>
      </p:sp>
    </p:spTree>
    <p:extLst>
      <p:ext uri="{BB962C8B-B14F-4D97-AF65-F5344CB8AC3E}">
        <p14:creationId xmlns:p14="http://schemas.microsoft.com/office/powerpoint/2010/main" val="3611773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AC01C-5540-09FE-6A6F-30CCE79D42C8}"/>
              </a:ext>
            </a:extLst>
          </p:cNvPr>
          <p:cNvSpPr>
            <a:spLocks noGrp="1"/>
          </p:cNvSpPr>
          <p:nvPr>
            <p:ph type="title"/>
          </p:nvPr>
        </p:nvSpPr>
        <p:spPr/>
        <p:txBody>
          <a:bodyPr/>
          <a:lstStyle/>
          <a:p>
            <a:r>
              <a:rPr lang="en-US" dirty="0"/>
              <a:t>Azure Cloud Services Used</a:t>
            </a:r>
          </a:p>
        </p:txBody>
      </p:sp>
      <p:sp>
        <p:nvSpPr>
          <p:cNvPr id="3" name="Text Placeholder 2">
            <a:extLst>
              <a:ext uri="{FF2B5EF4-FFF2-40B4-BE49-F238E27FC236}">
                <a16:creationId xmlns:a16="http://schemas.microsoft.com/office/drawing/2014/main" id="{3BE64B24-F446-13D4-AAAE-8E3013104397}"/>
              </a:ext>
            </a:extLst>
          </p:cNvPr>
          <p:cNvSpPr>
            <a:spLocks noGrp="1"/>
          </p:cNvSpPr>
          <p:nvPr>
            <p:ph type="body" idx="1"/>
          </p:nvPr>
        </p:nvSpPr>
        <p:spPr/>
        <p:txBody>
          <a:bodyPr/>
          <a:lstStyle/>
          <a:p>
            <a:r>
              <a:rPr lang="en-US" dirty="0"/>
              <a:t>SERVICE</a:t>
            </a:r>
          </a:p>
        </p:txBody>
      </p:sp>
      <p:sp>
        <p:nvSpPr>
          <p:cNvPr id="4" name="Content Placeholder 3">
            <a:extLst>
              <a:ext uri="{FF2B5EF4-FFF2-40B4-BE49-F238E27FC236}">
                <a16:creationId xmlns:a16="http://schemas.microsoft.com/office/drawing/2014/main" id="{68AEB363-395F-7E26-AF66-3CCBD15E8315}"/>
              </a:ext>
            </a:extLst>
          </p:cNvPr>
          <p:cNvSpPr>
            <a:spLocks noGrp="1"/>
          </p:cNvSpPr>
          <p:nvPr>
            <p:ph sz="half" idx="2"/>
          </p:nvPr>
        </p:nvSpPr>
        <p:spPr/>
        <p:txBody>
          <a:bodyPr>
            <a:normAutofit fontScale="92500" lnSpcReduction="10000"/>
          </a:bodyPr>
          <a:lstStyle/>
          <a:p>
            <a:r>
              <a:rPr lang="en-US" dirty="0"/>
              <a:t>Azure Blob Storage</a:t>
            </a:r>
          </a:p>
          <a:p>
            <a:r>
              <a:rPr lang="en-US" dirty="0"/>
              <a:t>Azure Data Factory</a:t>
            </a:r>
          </a:p>
          <a:p>
            <a:r>
              <a:rPr lang="en-US" dirty="0"/>
              <a:t>Azure Databricks</a:t>
            </a:r>
          </a:p>
          <a:p>
            <a:r>
              <a:rPr lang="en-US" dirty="0"/>
              <a:t>Azure Synapse Analytics</a:t>
            </a:r>
          </a:p>
          <a:p>
            <a:r>
              <a:rPr lang="en-US" dirty="0"/>
              <a:t>Azure Machine Learning</a:t>
            </a:r>
          </a:p>
          <a:p>
            <a:r>
              <a:rPr lang="en-US" dirty="0"/>
              <a:t>Power BI</a:t>
            </a:r>
          </a:p>
        </p:txBody>
      </p:sp>
      <p:sp>
        <p:nvSpPr>
          <p:cNvPr id="5" name="Text Placeholder 4">
            <a:extLst>
              <a:ext uri="{FF2B5EF4-FFF2-40B4-BE49-F238E27FC236}">
                <a16:creationId xmlns:a16="http://schemas.microsoft.com/office/drawing/2014/main" id="{9923B4EF-984E-AF75-AE2A-E2CCB8DE05D8}"/>
              </a:ext>
            </a:extLst>
          </p:cNvPr>
          <p:cNvSpPr>
            <a:spLocks noGrp="1"/>
          </p:cNvSpPr>
          <p:nvPr>
            <p:ph type="body" sz="quarter" idx="3"/>
          </p:nvPr>
        </p:nvSpPr>
        <p:spPr/>
        <p:txBody>
          <a:bodyPr/>
          <a:lstStyle/>
          <a:p>
            <a:r>
              <a:rPr lang="en-US" dirty="0"/>
              <a:t>PURPOSE</a:t>
            </a:r>
          </a:p>
        </p:txBody>
      </p:sp>
      <p:sp>
        <p:nvSpPr>
          <p:cNvPr id="6" name="Content Placeholder 5">
            <a:extLst>
              <a:ext uri="{FF2B5EF4-FFF2-40B4-BE49-F238E27FC236}">
                <a16:creationId xmlns:a16="http://schemas.microsoft.com/office/drawing/2014/main" id="{F143F1F9-F3F7-F400-9BAD-492C1A189689}"/>
              </a:ext>
            </a:extLst>
          </p:cNvPr>
          <p:cNvSpPr>
            <a:spLocks noGrp="1"/>
          </p:cNvSpPr>
          <p:nvPr>
            <p:ph sz="quarter" idx="4"/>
          </p:nvPr>
        </p:nvSpPr>
        <p:spPr/>
        <p:txBody>
          <a:bodyPr>
            <a:normAutofit fontScale="92500" lnSpcReduction="10000"/>
          </a:bodyPr>
          <a:lstStyle/>
          <a:p>
            <a:r>
              <a:rPr lang="en-US" dirty="0"/>
              <a:t>Store Travel Data</a:t>
            </a:r>
          </a:p>
          <a:p>
            <a:r>
              <a:rPr lang="en-US" dirty="0"/>
              <a:t>Data ingestion</a:t>
            </a:r>
          </a:p>
          <a:p>
            <a:r>
              <a:rPr lang="en-US" dirty="0"/>
              <a:t>Data processing</a:t>
            </a:r>
          </a:p>
          <a:p>
            <a:r>
              <a:rPr lang="en-US" dirty="0"/>
              <a:t>Querying</a:t>
            </a:r>
          </a:p>
          <a:p>
            <a:r>
              <a:rPr lang="en-US" dirty="0"/>
              <a:t>Recommendation model</a:t>
            </a:r>
          </a:p>
          <a:p>
            <a:r>
              <a:rPr lang="en-US" dirty="0"/>
              <a:t>Visualization</a:t>
            </a:r>
          </a:p>
        </p:txBody>
      </p:sp>
    </p:spTree>
    <p:extLst>
      <p:ext uri="{BB962C8B-B14F-4D97-AF65-F5344CB8AC3E}">
        <p14:creationId xmlns:p14="http://schemas.microsoft.com/office/powerpoint/2010/main" val="30887715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91354-4A3E-1D31-41DF-58C10AA6C801}"/>
              </a:ext>
            </a:extLst>
          </p:cNvPr>
          <p:cNvSpPr>
            <a:spLocks noGrp="1"/>
          </p:cNvSpPr>
          <p:nvPr>
            <p:ph type="title"/>
          </p:nvPr>
        </p:nvSpPr>
        <p:spPr/>
        <p:txBody>
          <a:bodyPr/>
          <a:lstStyle/>
          <a:p>
            <a:r>
              <a:rPr lang="en-US" dirty="0"/>
              <a:t> </a:t>
            </a:r>
            <a:r>
              <a:rPr lang="en-US" dirty="0" err="1"/>
              <a:t>ResulTS</a:t>
            </a:r>
            <a:endParaRPr lang="en-US" dirty="0"/>
          </a:p>
        </p:txBody>
      </p:sp>
      <p:pic>
        <p:nvPicPr>
          <p:cNvPr id="5" name="Picture 4">
            <a:extLst>
              <a:ext uri="{FF2B5EF4-FFF2-40B4-BE49-F238E27FC236}">
                <a16:creationId xmlns:a16="http://schemas.microsoft.com/office/drawing/2014/main" id="{8F4F8EA0-BF9B-1F24-52D9-614296AECD8F}"/>
              </a:ext>
            </a:extLst>
          </p:cNvPr>
          <p:cNvPicPr>
            <a:picLocks noChangeAspect="1"/>
          </p:cNvPicPr>
          <p:nvPr/>
        </p:nvPicPr>
        <p:blipFill>
          <a:blip r:embed="rId2"/>
          <a:stretch>
            <a:fillRect/>
          </a:stretch>
        </p:blipFill>
        <p:spPr>
          <a:xfrm>
            <a:off x="0" y="1951628"/>
            <a:ext cx="6096000" cy="4101853"/>
          </a:xfrm>
          <a:prstGeom prst="rect">
            <a:avLst/>
          </a:prstGeom>
        </p:spPr>
      </p:pic>
      <p:pic>
        <p:nvPicPr>
          <p:cNvPr id="7" name="Picture 6">
            <a:extLst>
              <a:ext uri="{FF2B5EF4-FFF2-40B4-BE49-F238E27FC236}">
                <a16:creationId xmlns:a16="http://schemas.microsoft.com/office/drawing/2014/main" id="{F6E555A8-8ADE-77AB-66E0-8D33B82136AE}"/>
              </a:ext>
            </a:extLst>
          </p:cNvPr>
          <p:cNvPicPr>
            <a:picLocks noChangeAspect="1"/>
          </p:cNvPicPr>
          <p:nvPr/>
        </p:nvPicPr>
        <p:blipFill>
          <a:blip r:embed="rId3"/>
          <a:stretch>
            <a:fillRect/>
          </a:stretch>
        </p:blipFill>
        <p:spPr>
          <a:xfrm>
            <a:off x="6096000" y="1951628"/>
            <a:ext cx="6008914" cy="4101853"/>
          </a:xfrm>
          <a:prstGeom prst="rect">
            <a:avLst/>
          </a:prstGeom>
        </p:spPr>
      </p:pic>
    </p:spTree>
    <p:extLst>
      <p:ext uri="{BB962C8B-B14F-4D97-AF65-F5344CB8AC3E}">
        <p14:creationId xmlns:p14="http://schemas.microsoft.com/office/powerpoint/2010/main" val="759938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9C32E-8B82-2A7E-F243-E4174CF694CE}"/>
              </a:ext>
            </a:extLst>
          </p:cNvPr>
          <p:cNvSpPr>
            <a:spLocks noGrp="1"/>
          </p:cNvSpPr>
          <p:nvPr>
            <p:ph type="title"/>
          </p:nvPr>
        </p:nvSpPr>
        <p:spPr/>
        <p:txBody>
          <a:bodyPr/>
          <a:lstStyle/>
          <a:p>
            <a:r>
              <a:rPr lang="en-US" dirty="0"/>
              <a:t>REFERENCES</a:t>
            </a:r>
          </a:p>
        </p:txBody>
      </p:sp>
      <p:sp>
        <p:nvSpPr>
          <p:cNvPr id="4" name="Rectangle 1">
            <a:extLst>
              <a:ext uri="{FF2B5EF4-FFF2-40B4-BE49-F238E27FC236}">
                <a16:creationId xmlns:a16="http://schemas.microsoft.com/office/drawing/2014/main" id="{70AEB8B5-38F1-AAFC-BE2C-D1872869B961}"/>
              </a:ext>
            </a:extLst>
          </p:cNvPr>
          <p:cNvSpPr>
            <a:spLocks noGrp="1" noChangeArrowheads="1"/>
          </p:cNvSpPr>
          <p:nvPr>
            <p:ph idx="1"/>
          </p:nvPr>
        </p:nvSpPr>
        <p:spPr bwMode="auto">
          <a:xfrm>
            <a:off x="1451579" y="1849784"/>
            <a:ext cx="6470682" cy="3782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rPr>
              <a:t>Ricci et al. (2022)</a:t>
            </a:r>
            <a:br>
              <a:rPr kumimoji="0" lang="en-US" altLang="en-US" sz="1800" b="0" i="0" u="none" strike="noStrike" cap="none" normalizeH="0" baseline="0" dirty="0">
                <a:ln>
                  <a:noFill/>
                </a:ln>
                <a:solidFill>
                  <a:schemeClr val="tx1"/>
                </a:solidFill>
                <a:effectLst/>
              </a:rPr>
            </a:br>
            <a:r>
              <a:rPr kumimoji="0" lang="en-US" altLang="en-US" sz="1800" b="0" i="1" u="none" strike="noStrike" cap="none" normalizeH="0" baseline="0" dirty="0">
                <a:ln>
                  <a:noFill/>
                </a:ln>
                <a:solidFill>
                  <a:schemeClr val="tx1"/>
                </a:solidFill>
                <a:effectLst/>
              </a:rPr>
              <a:t>Recommender Systems in Travel and Tourism</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 Shows how user behavior improves travel recommendations</a:t>
            </a:r>
          </a:p>
          <a:p>
            <a:pPr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rPr>
              <a:t>Borras et al. (2023)</a:t>
            </a:r>
            <a:br>
              <a:rPr kumimoji="0" lang="en-US" altLang="en-US" sz="1800" b="0" i="0" u="none" strike="noStrike" cap="none" normalizeH="0" baseline="0" dirty="0">
                <a:ln>
                  <a:noFill/>
                </a:ln>
                <a:solidFill>
                  <a:schemeClr val="tx1"/>
                </a:solidFill>
                <a:effectLst/>
              </a:rPr>
            </a:br>
            <a:r>
              <a:rPr kumimoji="0" lang="en-US" altLang="en-US" sz="1800" b="0" i="1" u="none" strike="noStrike" cap="none" normalizeH="0" baseline="0" dirty="0">
                <a:ln>
                  <a:noFill/>
                </a:ln>
                <a:solidFill>
                  <a:schemeClr val="tx1"/>
                </a:solidFill>
                <a:effectLst/>
              </a:rPr>
              <a:t>Personalized Travel Recommendation Systems using Data Analytics</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 Case study on behavior-based destination suggestions</a:t>
            </a:r>
          </a:p>
          <a:p>
            <a:pPr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rPr>
              <a:t>Sun et al. (2024)</a:t>
            </a:r>
            <a:br>
              <a:rPr kumimoji="0" lang="en-US" altLang="en-US" sz="1800" b="0" i="0" u="none" strike="noStrike" cap="none" normalizeH="0" baseline="0" dirty="0">
                <a:ln>
                  <a:noFill/>
                </a:ln>
                <a:solidFill>
                  <a:schemeClr val="tx1"/>
                </a:solidFill>
                <a:effectLst/>
              </a:rPr>
            </a:br>
            <a:r>
              <a:rPr kumimoji="0" lang="en-US" altLang="en-US" sz="1800" b="0" i="1" u="none" strike="noStrike" cap="none" normalizeH="0" baseline="0" dirty="0">
                <a:ln>
                  <a:noFill/>
                </a:ln>
                <a:solidFill>
                  <a:schemeClr val="tx1"/>
                </a:solidFill>
                <a:effectLst/>
              </a:rPr>
              <a:t>Cloud-Based Big Data Analytics for Smart Tourism</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 Demonstrates cloud analytics in travel decision making</a:t>
            </a:r>
          </a:p>
        </p:txBody>
      </p:sp>
    </p:spTree>
    <p:extLst>
      <p:ext uri="{BB962C8B-B14F-4D97-AF65-F5344CB8AC3E}">
        <p14:creationId xmlns:p14="http://schemas.microsoft.com/office/powerpoint/2010/main" val="2664401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83542-7C46-8E38-83F0-2405367F0E8F}"/>
              </a:ext>
            </a:extLst>
          </p:cNvPr>
          <p:cNvSpPr>
            <a:spLocks noGrp="1"/>
          </p:cNvSpPr>
          <p:nvPr>
            <p:ph type="title"/>
          </p:nvPr>
        </p:nvSpPr>
        <p:spPr/>
        <p:txBody>
          <a:bodyPr/>
          <a:lstStyle/>
          <a:p>
            <a:r>
              <a:rPr lang="en-US" dirty="0"/>
              <a:t>REFERENCES</a:t>
            </a:r>
          </a:p>
        </p:txBody>
      </p:sp>
      <p:sp>
        <p:nvSpPr>
          <p:cNvPr id="4" name="Rectangle 1">
            <a:extLst>
              <a:ext uri="{FF2B5EF4-FFF2-40B4-BE49-F238E27FC236}">
                <a16:creationId xmlns:a16="http://schemas.microsoft.com/office/drawing/2014/main" id="{0ED07325-DE41-1800-34B2-FD43C86AF793}"/>
              </a:ext>
            </a:extLst>
          </p:cNvPr>
          <p:cNvSpPr>
            <a:spLocks noGrp="1" noChangeArrowheads="1"/>
          </p:cNvSpPr>
          <p:nvPr>
            <p:ph idx="1"/>
          </p:nvPr>
        </p:nvSpPr>
        <p:spPr bwMode="auto">
          <a:xfrm>
            <a:off x="1451579" y="1734718"/>
            <a:ext cx="5878725"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Li &amp; Wang (2023)</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1" u="none" strike="noStrike" cap="none" normalizeH="0" baseline="0" dirty="0">
                <a:ln>
                  <a:noFill/>
                </a:ln>
                <a:solidFill>
                  <a:schemeClr val="tx1"/>
                </a:solidFill>
                <a:effectLst/>
                <a:latin typeface="Arial" panose="020B0604020202020204" pitchFamily="34" charset="0"/>
              </a:rPr>
              <a:t>Tourism Recommendation using User Travel Patterns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Uses behavioral insights for trip planning</a:t>
            </a:r>
          </a:p>
          <a:p>
            <a:pPr eaLnBrk="0" fontAlgn="base" hangingPunct="0">
              <a:lnSpc>
                <a:spcPct val="15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AWS Smart Tourism Case Study (2024)</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Real-world use of cloud analytics in tourism</a:t>
            </a:r>
          </a:p>
        </p:txBody>
      </p:sp>
    </p:spTree>
    <p:extLst>
      <p:ext uri="{BB962C8B-B14F-4D97-AF65-F5344CB8AC3E}">
        <p14:creationId xmlns:p14="http://schemas.microsoft.com/office/powerpoint/2010/main" val="21620555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12290" name="Picture 2" descr="White Background Thank You Slide - SlideKit">
            <a:extLst>
              <a:ext uri="{FF2B5EF4-FFF2-40B4-BE49-F238E27FC236}">
                <a16:creationId xmlns:a16="http://schemas.microsoft.com/office/drawing/2014/main" id="{6332618E-338C-D637-D183-B98291D74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528" r="1" b="7725"/>
          <a:stretch>
            <a:fillRect/>
          </a:stretch>
        </p:blipFill>
        <p:spPr bwMode="auto">
          <a:xfrm>
            <a:off x="2269237" y="1247835"/>
            <a:ext cx="7653528" cy="3648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120135"/>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1168</TotalTime>
  <Words>627</Words>
  <Application>Microsoft Office PowerPoint</Application>
  <PresentationFormat>Widescreen</PresentationFormat>
  <Paragraphs>91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Gill Sans MT</vt:lpstr>
      <vt:lpstr>Gallery</vt:lpstr>
      <vt:lpstr>TRAVEL BEHAVIOR ANALYTICS AND SMART TRIP RECOMMENDATION SYSTEM</vt:lpstr>
      <vt:lpstr>ABSTRACT</vt:lpstr>
      <vt:lpstr>INTRODUCTION &amp; MOTIVATION</vt:lpstr>
      <vt:lpstr>Problem Statement</vt:lpstr>
      <vt:lpstr>OBJECTIVES</vt:lpstr>
      <vt:lpstr>Literature Survey</vt:lpstr>
      <vt:lpstr>Proposed Methodology</vt:lpstr>
      <vt:lpstr>System Architecture</vt:lpstr>
      <vt:lpstr>Azure Components Used</vt:lpstr>
      <vt:lpstr>DATA &amp; CLOUD SERVICES USED</vt:lpstr>
      <vt:lpstr>Azure Cloud Services Used</vt:lpstr>
      <vt:lpstr> ResulTS</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Koneru</dc:creator>
  <cp:lastModifiedBy>Nikhil Koneru</cp:lastModifiedBy>
  <cp:revision>3</cp:revision>
  <dcterms:created xsi:type="dcterms:W3CDTF">2026-02-20T04:46:41Z</dcterms:created>
  <dcterms:modified xsi:type="dcterms:W3CDTF">2026-04-22T06:12:29Z</dcterms:modified>
</cp:coreProperties>
</file>